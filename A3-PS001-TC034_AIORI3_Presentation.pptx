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771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Team A3-PS001-TC034, PS-001: Android Ransomware-like Activity Early Warning in a Controlled Lab. Footer date uses the current date; edit if the submission date differs.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PS-001 brief (Description, Challenge, Key Requirements). The scope boundaries mirror the PS-001 key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References: [1] Android security best practices (PS-001 reference); [2] FileObserver API reference; [3] Android data and file storage overview; [4] Linux inotify(7); [6] Scaife et al., CryptoLock, ICDCS 2016 (entropy, file type change, deletion and similarity indicators). Please re-check the exact FileObserver behaviour on the API level chosen for the emulator before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for RansomTrack (0.96 accuracy, 9.1-9.2 s) are taken from the attached arXiv:2604.08739 paper and relate to Windows PE ransomware, not Android. Gagniuc (Algorithms 2026, 19, 345) is cited for architecture principles only. CryptoLock details should be re-verified against the original paper before final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Implemented vs planned: at the time of this proposal everything on this slide is DESIGNED, not implemented. Markov analysis is a stretch extension. Update the status chips (Designed -&gt; Built -&gt; Evaluated) as the prototype progresses. Platform note: FileObserver watches a single directory per instance, so sub-directories need their own observers.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'before' column is our own baseline implementation (a fixed-threshold rule) and will be measured, not assumed. Threshold calibration idea (tune on clean data until false alerts stay below a stated limit; borderline scores trigger a second check) follows the layered-architecture discussion in Gagniuc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Component diagram. The Detector Service only watches the harness's own test directory, which is what keeps the design within the PS-001 constraint of no monitoring of other apps on stock Android. The simulator runs in its own Android process so that Process.killProcess targets only that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Gane-Sarson style DFD: rounded rectangles = processes, open-ended bars = data stores, shaded rectangles = external entities. The amber dashed flow is the containment signal from P5 back to the simulator workload in P1's process; it never targets other apps. The dashed line is drawn from P5 upwards for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calendar dates are given because the hackathon schedule is not stated in the attached PS-001 document; replace phases with dates once confirmed. All phases are currently Planned.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[5] is cited for emulator setup. Papers [7] and [8] are the attached papers. [6], [9]-[12] were cited from the literature and should be re-verified (title, venue, pages) against the original sources before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MPLA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manu.elappila@christuniversity.in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dvanced Internet Operations Research in India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376" y="108356"/>
            <a:ext cx="822960" cy="816559"/>
          </a:xfrm>
          <a:prstGeom prst="rect">
            <a:avLst/>
          </a:prstGeom>
        </p:spPr>
      </p:pic>
      <p:sp>
        <p:nvSpPr>
          <p:cNvPr id="3" name="Team ID"/>
          <p:cNvSpPr txBox="1"/>
          <p:nvPr/>
        </p:nvSpPr>
        <p:spPr>
          <a:xfrm>
            <a:off x="341376" y="93832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A3-PS001-TC034</a:t>
            </a:r>
            <a:endParaRPr lang="en-US" sz="3800" dirty="0"/>
          </a:p>
        </p:txBody>
      </p:sp>
      <p:sp>
        <p:nvSpPr>
          <p:cNvPr id="4" name="Subtitle"/>
          <p:cNvSpPr txBox="1"/>
          <p:nvPr/>
        </p:nvSpPr>
        <p:spPr>
          <a:xfrm>
            <a:off x="341376" y="1535279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Android Ransomware-like Activity Early Warning in a Controlled Lab</a:t>
            </a:r>
            <a:endParaRPr lang="en-US" sz="1900" dirty="0"/>
          </a:p>
        </p:txBody>
      </p:sp>
      <p:sp>
        <p:nvSpPr>
          <p:cNvPr id="5" name="Author"/>
          <p:cNvSpPr txBox="1"/>
          <p:nvPr/>
        </p:nvSpPr>
        <p:spPr>
          <a:xfrm>
            <a:off x="384048" y="2221079"/>
            <a:ext cx="8229600" cy="1710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Mentor :</a:t>
            </a:r>
            <a:br>
              <a:rPr lang="en-US" sz="140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</a:br>
            <a:r>
              <a:rPr lang="en-US" sz="140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Dr . Manu </a:t>
            </a:r>
            <a:r>
              <a:rPr lang="en-US" sz="1400" b="1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Elappila</a:t>
            </a:r>
            <a:r>
              <a:rPr lang="en-US" sz="140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</a:t>
            </a:r>
          </a:p>
          <a:p>
            <a:r>
              <a:rPr lang="en-GB" sz="140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  <a:hlinkClick r:id="rId4"/>
              </a:rPr>
              <a:t>manu.elappila@christuniversity.in</a:t>
            </a:r>
            <a:endParaRPr lang="en-GB" sz="1400" dirty="0">
              <a:solidFill>
                <a:srgbClr val="000000"/>
              </a:solidFill>
              <a:latin typeface="PT Sans" pitchFamily="34" charset="0"/>
              <a:ea typeface="PT Sans" pitchFamily="34" charset="-122"/>
              <a:cs typeface="PT Sans" pitchFamily="34" charset="-12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Students:</a:t>
            </a:r>
            <a:endParaRPr lang="en-US" sz="1400" b="1" dirty="0">
              <a:solidFill>
                <a:srgbClr val="000000"/>
              </a:solidFill>
              <a:latin typeface="PT Sans" pitchFamily="34" charset="0"/>
              <a:ea typeface="PT Sans" pitchFamily="34" charset="-122"/>
              <a:cs typeface="PT Sans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Deepika Grace T </a:t>
            </a:r>
            <a:r>
              <a:rPr lang="en-US" sz="1400" b="1" dirty="0" err="1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</a:t>
            </a:r>
            <a:endParaRPr lang="en-US" sz="1400" b="1" dirty="0">
              <a:solidFill>
                <a:srgbClr val="000000"/>
              </a:solidFill>
              <a:latin typeface="PT Sans" pitchFamily="34" charset="0"/>
              <a:ea typeface="PT Sans" pitchFamily="34" charset="-122"/>
              <a:cs typeface="PT Sans" pitchFamily="34" charset="-120"/>
            </a:endParaRPr>
          </a:p>
          <a:p>
            <a:r>
              <a:rPr lang="en-US" sz="140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deepika.grace@btech.christuniversity.in</a:t>
            </a:r>
            <a:endParaRPr lang="en-US" sz="1400" dirty="0"/>
          </a:p>
          <a:p>
            <a:pPr marL="0" indent="0">
              <a:buNone/>
            </a:pPr>
            <a:endParaRPr lang="en-US" sz="1400" b="1" dirty="0">
              <a:solidFill>
                <a:srgbClr val="000000"/>
              </a:solidFill>
              <a:latin typeface="PT Sans" pitchFamily="34" charset="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PT Sans" pitchFamily="34" charset="0"/>
              </a:rPr>
              <a:t>Eliza Miriam Paul </a:t>
            </a:r>
          </a:p>
          <a:p>
            <a:r>
              <a:rPr lang="en-US" sz="1400" dirty="0"/>
              <a:t>eliza.miriam@btech.christuniversity.in</a:t>
            </a:r>
          </a:p>
        </p:txBody>
      </p:sp>
      <p:sp>
        <p:nvSpPr>
          <p:cNvPr id="6" name="Email"/>
          <p:cNvSpPr txBox="1"/>
          <p:nvPr/>
        </p:nvSpPr>
        <p:spPr>
          <a:xfrm>
            <a:off x="384048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84048" y="4069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AIORI Hackathon 3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384048" y="4370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October 13,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 txBox="1"/>
          <p:nvPr/>
        </p:nvSpPr>
        <p:spPr>
          <a:xfrm>
            <a:off x="2286000" y="73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AIORI 3      Abstract</a:t>
            </a:r>
            <a:endParaRPr lang="en-US" sz="75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Problem Description</a:t>
            </a:r>
            <a:endParaRPr lang="en-US" sz="2400" dirty="0"/>
          </a:p>
        </p:txBody>
      </p:sp>
      <p:sp>
        <p:nvSpPr>
          <p:cNvPr id="4" name="Subtitle"/>
          <p:cNvSpPr txBox="1"/>
          <p:nvPr/>
        </p:nvSpPr>
        <p:spPr>
          <a:xfrm>
            <a:off x="457200" y="822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Zero-day ransomware has no signature yet, but its file-system behaviour is unmistakable.</a:t>
            </a:r>
            <a:endParaRPr lang="en-US" sz="1250" dirty="0"/>
          </a:p>
        </p:txBody>
      </p:sp>
      <p:sp>
        <p:nvSpPr>
          <p:cNvPr id="5" name="Footer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D. Grace T T • </a:t>
            </a: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A3-PS001-TC034</a:t>
            </a: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• October 13, 2026</a:t>
            </a:r>
            <a:endParaRPr lang="en-US" sz="750" dirty="0"/>
          </a:p>
        </p:txBody>
      </p:sp>
      <p:sp>
        <p:nvSpPr>
          <p:cNvPr id="6" name="Page number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 / 11</a:t>
            </a:r>
            <a:endParaRPr lang="en-US" sz="750" dirty="0"/>
          </a:p>
        </p:txBody>
      </p:sp>
      <p:sp>
        <p:nvSpPr>
          <p:cNvPr id="7" name="Key issues"/>
          <p:cNvSpPr txBox="1"/>
          <p:nvPr/>
        </p:nvSpPr>
        <p:spPr>
          <a:xfrm>
            <a:off x="457200" y="132588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Signature-based antivirus cannot flag a binary that has not been cataloged; the first victims lose files before any signature exists.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Android app sandboxing stops security software from inspecting other apps' memory, so detection must rely on observable behaviour.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Ransomware leaves a rapid open → write → rename pattern across many files; every second of delay means more files lost.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Hard part: alert early without false alarms on legitimate bursts (media sync, bulk copy, editor autosave).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Response must stop only the controlled test workload, with no device-wide prevention claims.</a:t>
            </a:r>
            <a:endParaRPr lang="en-US" sz="1100" dirty="0"/>
          </a:p>
        </p:txBody>
      </p:sp>
      <p:sp>
        <p:nvSpPr>
          <p:cNvPr id="8" name="Scope card"/>
          <p:cNvSpPr/>
          <p:nvPr/>
        </p:nvSpPr>
        <p:spPr>
          <a:xfrm>
            <a:off x="5623560" y="1325880"/>
            <a:ext cx="3063240" cy="329184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60720" y="13898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PS-001 scope (what we build)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69164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One emulator or rooted lab device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One explicitly accessible test directory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 benign workloads + 3 harmless simulations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Detection delay, files changed before alert, precision, recall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32461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45F06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Explicitly not claimed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5204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Real malware or real encryption of user data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Monitoring other apps on stock Android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Device-wide ransomware prevention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 txBox="1"/>
          <p:nvPr/>
        </p:nvSpPr>
        <p:spPr>
          <a:xfrm>
            <a:off x="2286000" y="73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AIORI 3      Background</a:t>
            </a:r>
            <a:endParaRPr lang="en-US" sz="75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Background</a:t>
            </a:r>
            <a:endParaRPr lang="en-US" sz="2400" dirty="0"/>
          </a:p>
        </p:txBody>
      </p:sp>
      <p:sp>
        <p:nvSpPr>
          <p:cNvPr id="4" name="Subtitle"/>
          <p:cNvSpPr txBox="1"/>
          <p:nvPr/>
        </p:nvSpPr>
        <p:spPr>
          <a:xfrm>
            <a:off x="457200" y="822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What the file-system signal looks like, and what Android lets an app observe.</a:t>
            </a:r>
            <a:endParaRPr lang="en-US" sz="1250" dirty="0"/>
          </a:p>
        </p:txBody>
      </p:sp>
      <p:sp>
        <p:nvSpPr>
          <p:cNvPr id="5" name="Footer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D. Grace T T • </a:t>
            </a: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A3-PS001-TC034</a:t>
            </a: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• October 13, 2026</a:t>
            </a:r>
            <a:endParaRPr lang="en-US" sz="750" dirty="0"/>
          </a:p>
        </p:txBody>
      </p:sp>
      <p:sp>
        <p:nvSpPr>
          <p:cNvPr id="6" name="Page number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 / 11</a:t>
            </a:r>
            <a:endParaRPr lang="en-US" sz="750" dirty="0"/>
          </a:p>
        </p:txBody>
      </p:sp>
      <p:sp>
        <p:nvSpPr>
          <p:cNvPr id="7" name="Card 1"/>
          <p:cNvSpPr/>
          <p:nvPr/>
        </p:nvSpPr>
        <p:spPr>
          <a:xfrm>
            <a:off x="457200" y="1325880"/>
            <a:ext cx="2651760" cy="269748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17320"/>
            <a:ext cx="274320" cy="274320"/>
          </a:xfrm>
          <a:prstGeom prst="ellips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Ransomware I/O footprint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810512"/>
            <a:ext cx="23774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Many files touched in a short burst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In-place overwrite, or write-copy then delete original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Rename to a new extension (e.g. .locked)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Write bursts often carry high-entropy (encrypted) content [6]</a:t>
            </a:r>
            <a:endParaRPr lang="en-US" sz="950" dirty="0"/>
          </a:p>
        </p:txBody>
      </p:sp>
      <p:sp>
        <p:nvSpPr>
          <p:cNvPr id="12" name="Card 2"/>
          <p:cNvSpPr/>
          <p:nvPr/>
        </p:nvSpPr>
        <p:spPr>
          <a:xfrm>
            <a:off x="3246120" y="1325880"/>
            <a:ext cx="2651760" cy="269748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55848" y="1417320"/>
            <a:ext cx="274320" cy="274320"/>
          </a:xfrm>
          <a:prstGeom prst="ellips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55848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Android constraints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810512"/>
            <a:ext cx="23774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App sandbox: no inspection of other apps' memory [1]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Scoped storage limits access to other apps' files [3]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On stock Android an app sees only its own or explicitly granted directories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Hence: app-owned test directory + emulator / rooted lab for documented telemetry</a:t>
            </a:r>
            <a:endParaRPr lang="en-US" sz="950" dirty="0"/>
          </a:p>
        </p:txBody>
      </p:sp>
      <p:sp>
        <p:nvSpPr>
          <p:cNvPr id="17" name="Card 3"/>
          <p:cNvSpPr/>
          <p:nvPr/>
        </p:nvSpPr>
        <p:spPr>
          <a:xfrm>
            <a:off x="6035040" y="1325880"/>
            <a:ext cx="2651760" cy="269748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44768" y="1417320"/>
            <a:ext cx="274320" cy="274320"/>
          </a:xfrm>
          <a:prstGeom prst="ellips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44768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Telemetry source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810512"/>
            <a:ext cx="23774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FileObserver wraps Linux inotify [2][4]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Events: CREATE, MODIFY, CLOSE_WRITE, MOVED_FROM/TO, DELETE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Watches one directory (non-recursive): observe sub-folders individually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Event queue can overflow under bursts, so treat overflow as a gap and log it</a:t>
            </a:r>
            <a:endParaRPr lang="en-US" sz="950" dirty="0"/>
          </a:p>
        </p:txBody>
      </p:sp>
      <p:sp>
        <p:nvSpPr>
          <p:cNvPr id="22" name="Optimization target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4360" y="41605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Optimization target: minimize detection delay and files changed before the alert, while keeping false positives low on benign bursts.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 txBox="1"/>
          <p:nvPr/>
        </p:nvSpPr>
        <p:spPr>
          <a:xfrm>
            <a:off x="2286000" y="73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AIORI 3      Literature &amp; RFC Review</a:t>
            </a:r>
            <a:endParaRPr lang="en-US" sz="75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Literature &amp; RFC Review</a:t>
            </a:r>
            <a:endParaRPr lang="en-US" sz="2400" dirty="0"/>
          </a:p>
        </p:txBody>
      </p:sp>
      <p:sp>
        <p:nvSpPr>
          <p:cNvPr id="4" name="Subtitle"/>
          <p:cNvSpPr txBox="1"/>
          <p:nvPr/>
        </p:nvSpPr>
        <p:spPr>
          <a:xfrm>
            <a:off x="457200" y="822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Most relevant studies and platform specifications, and the gap this prototype targets.</a:t>
            </a:r>
            <a:endParaRPr lang="en-US" sz="1250" dirty="0"/>
          </a:p>
        </p:txBody>
      </p:sp>
      <p:sp>
        <p:nvSpPr>
          <p:cNvPr id="5" name="Footer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D. Grace T T • </a:t>
            </a: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A3-PS001-TC034</a:t>
            </a: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• October 13, 2026</a:t>
            </a:r>
            <a:endParaRPr lang="en-US" sz="750" dirty="0"/>
          </a:p>
        </p:txBody>
      </p:sp>
      <p:sp>
        <p:nvSpPr>
          <p:cNvPr id="6" name="Page number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 / 11</a:t>
            </a:r>
            <a:endParaRPr lang="en-US" sz="750" dirty="0"/>
          </a:p>
        </p:txBody>
      </p:sp>
      <p:graphicFrame>
        <p:nvGraphicFramePr>
          <p:cNvPr id="7" name="Literatur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240334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Work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Approach / reported results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Relevance and gap for PS-001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CryptoLock, Scaife et al. 2016 [6]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File-system indicators (entropy, similarity, type change, deletion) on a Windows host; reports small file loss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Closest idea; we adapt it to Android app-level events and report files-changed-before-alert explicitly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RansomTrack, Caliskan et al. 2026 [7]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Static + Frida dynamic features, Windows PE; XGBoost/soft voting ≈ 0.96 accuracy; ≈ 9.2 s per sample; SHAP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Offline ML on Windows; latency in seconds, not files lost. We borrow explainability, not the pipeline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Antivirus review, Gagniuc 2026 [8]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Layered detection; calibrate score thresholds on clean data; borderline scores trigger a second check; delay and mimicry evasion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Design principles: rules first, calibrated threshold, hysteresis; slow simulation tests delay evasion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RanSAP / RanSMAP, Hirano et al. [9][10]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Storage and memory access traces at hypervisor level; open datasets for ransomware detectors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Needs hypervisor access; not available to a stock Android app. Motivates our emulator/rooted telemetry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HelDroid, Andronio et al. 2015 [11]; Drabent et al. 2024 [12]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Android ransomware detection (lock-screen / encryption traits) and Locker case study with Frida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Shows the threat class; dynamic runtime file behaviour with early-alert metrics is less explored</a:t>
                      </a:r>
                      <a:endParaRPr lang="en-US" sz="9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074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Standards: no IETF RFC defines Android file monitoring; the governing specifications are the Android platform docs [1][2][3] and Linux inotify(7) [4].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 txBox="1"/>
          <p:nvPr/>
        </p:nvSpPr>
        <p:spPr>
          <a:xfrm>
            <a:off x="2286000" y="73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AIORI 3      Proposed Solution</a:t>
            </a:r>
            <a:endParaRPr lang="en-US" sz="75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Proposed Solution</a:t>
            </a:r>
            <a:endParaRPr lang="en-US" sz="2400" dirty="0"/>
          </a:p>
        </p:txBody>
      </p:sp>
      <p:sp>
        <p:nvSpPr>
          <p:cNvPr id="4" name="Subtitle"/>
          <p:cNvSpPr txBox="1"/>
          <p:nvPr/>
        </p:nvSpPr>
        <p:spPr>
          <a:xfrm>
            <a:off x="457200" y="822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Hybrid early-warning detector: fast rules plus anomaly scoring, explained per alert.</a:t>
            </a:r>
            <a:endParaRPr lang="en-US" sz="1250" dirty="0"/>
          </a:p>
        </p:txBody>
      </p:sp>
      <p:sp>
        <p:nvSpPr>
          <p:cNvPr id="5" name="Footer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D. Grace T T • </a:t>
            </a: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A3-PS001-TC034</a:t>
            </a: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• October 13, 2026</a:t>
            </a:r>
            <a:endParaRPr lang="en-US" sz="750" dirty="0"/>
          </a:p>
        </p:txBody>
      </p:sp>
      <p:sp>
        <p:nvSpPr>
          <p:cNvPr id="6" name="Page number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 / 11</a:t>
            </a:r>
            <a:endParaRPr lang="en-US" sz="750" dirty="0"/>
          </a:p>
        </p:txBody>
      </p:sp>
      <p:sp>
        <p:nvSpPr>
          <p:cNvPr id="7" name="Step 1"/>
          <p:cNvSpPr/>
          <p:nvPr/>
        </p:nvSpPr>
        <p:spPr>
          <a:xfrm>
            <a:off x="457200" y="1325880"/>
            <a:ext cx="1554480" cy="457200"/>
          </a:xfrm>
          <a:prstGeom prst="homePlat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" y="13258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  Observe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847088"/>
            <a:ext cx="1554480" cy="123444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0352" y="1892808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FileObserver on the test directory only; every event time-stamped (ns)</a:t>
            </a:r>
            <a:endParaRPr lang="en-US" sz="880" dirty="0"/>
          </a:p>
        </p:txBody>
      </p:sp>
      <p:sp>
        <p:nvSpPr>
          <p:cNvPr id="11" name="Status chip"/>
          <p:cNvSpPr/>
          <p:nvPr/>
        </p:nvSpPr>
        <p:spPr>
          <a:xfrm>
            <a:off x="530352" y="2852928"/>
            <a:ext cx="731520" cy="182880"/>
          </a:xfrm>
          <a:prstGeom prst="roundRect">
            <a:avLst>
              <a:gd name="adj" fmla="val 25000"/>
            </a:avLst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" y="285292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Designed</a:t>
            </a:r>
            <a:endParaRPr lang="en-US" sz="700" dirty="0"/>
          </a:p>
        </p:txBody>
      </p:sp>
      <p:sp>
        <p:nvSpPr>
          <p:cNvPr id="13" name="Step 2"/>
          <p:cNvSpPr/>
          <p:nvPr/>
        </p:nvSpPr>
        <p:spPr>
          <a:xfrm>
            <a:off x="2125980" y="1325880"/>
            <a:ext cx="1554480" cy="457200"/>
          </a:xfrm>
          <a:prstGeom prst="homePlat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99132" y="13258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  Window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25980" y="1847088"/>
            <a:ext cx="1554480" cy="123444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99132" y="1892808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Rolling window (e.g. 2 s, 250 ms hop): writes/s, renames/s, unique files, extension changes, event gaps</a:t>
            </a:r>
            <a:endParaRPr lang="en-US" sz="880" dirty="0"/>
          </a:p>
        </p:txBody>
      </p:sp>
      <p:sp>
        <p:nvSpPr>
          <p:cNvPr id="17" name="Status chip"/>
          <p:cNvSpPr/>
          <p:nvPr/>
        </p:nvSpPr>
        <p:spPr>
          <a:xfrm>
            <a:off x="2199132" y="2852928"/>
            <a:ext cx="731520" cy="182880"/>
          </a:xfrm>
          <a:prstGeom prst="roundRect">
            <a:avLst>
              <a:gd name="adj" fmla="val 25000"/>
            </a:avLst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199132" y="285292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Designed</a:t>
            </a:r>
            <a:endParaRPr lang="en-US" sz="700" dirty="0"/>
          </a:p>
        </p:txBody>
      </p:sp>
      <p:sp>
        <p:nvSpPr>
          <p:cNvPr id="19" name="Step 3"/>
          <p:cNvSpPr/>
          <p:nvPr/>
        </p:nvSpPr>
        <p:spPr>
          <a:xfrm>
            <a:off x="3794760" y="1325880"/>
            <a:ext cx="1554480" cy="457200"/>
          </a:xfrm>
          <a:prstGeom prst="homePlat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67912" y="13258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  Detect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794760" y="1847088"/>
            <a:ext cx="1554480" cy="123444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67912" y="1892808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Rule engine + robust z-score vs. benign baseline; optional Markov sequence model</a:t>
            </a:r>
            <a:endParaRPr lang="en-US" sz="880" dirty="0"/>
          </a:p>
        </p:txBody>
      </p:sp>
      <p:sp>
        <p:nvSpPr>
          <p:cNvPr id="23" name="Status chip"/>
          <p:cNvSpPr/>
          <p:nvPr/>
        </p:nvSpPr>
        <p:spPr>
          <a:xfrm>
            <a:off x="3867912" y="2852928"/>
            <a:ext cx="731520" cy="182880"/>
          </a:xfrm>
          <a:prstGeom prst="roundRect">
            <a:avLst>
              <a:gd name="adj" fmla="val 25000"/>
            </a:avLst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67912" y="285292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Designed</a:t>
            </a:r>
            <a:endParaRPr lang="en-US" sz="700" dirty="0"/>
          </a:p>
        </p:txBody>
      </p:sp>
      <p:sp>
        <p:nvSpPr>
          <p:cNvPr id="25" name="Step 4"/>
          <p:cNvSpPr/>
          <p:nvPr/>
        </p:nvSpPr>
        <p:spPr>
          <a:xfrm>
            <a:off x="5463540" y="1325880"/>
            <a:ext cx="1554480" cy="457200"/>
          </a:xfrm>
          <a:prstGeom prst="homePlat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36692" y="13258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  Score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63540" y="1847088"/>
            <a:ext cx="1554480" cy="123444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36692" y="1892808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Risk score 0–100 with per-feature contributions; hysteresis before alert</a:t>
            </a:r>
            <a:endParaRPr lang="en-US" sz="880" dirty="0"/>
          </a:p>
        </p:txBody>
      </p:sp>
      <p:sp>
        <p:nvSpPr>
          <p:cNvPr id="29" name="Status chip"/>
          <p:cNvSpPr/>
          <p:nvPr/>
        </p:nvSpPr>
        <p:spPr>
          <a:xfrm>
            <a:off x="5536692" y="2852928"/>
            <a:ext cx="731520" cy="182880"/>
          </a:xfrm>
          <a:prstGeom prst="roundRect">
            <a:avLst>
              <a:gd name="adj" fmla="val 25000"/>
            </a:avLst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36692" y="285292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Designed</a:t>
            </a:r>
            <a:endParaRPr lang="en-US" sz="700" dirty="0"/>
          </a:p>
        </p:txBody>
      </p:sp>
      <p:sp>
        <p:nvSpPr>
          <p:cNvPr id="31" name="Step 5"/>
          <p:cNvSpPr/>
          <p:nvPr/>
        </p:nvSpPr>
        <p:spPr>
          <a:xfrm>
            <a:off x="7132320" y="1325880"/>
            <a:ext cx="1554480" cy="457200"/>
          </a:xfrm>
          <a:prstGeom prst="homePlat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05472" y="13258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  Respond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132320" y="1847088"/>
            <a:ext cx="1554480" cy="123444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05472" y="1892808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Raise alert; stop only the simulation process started by the harness</a:t>
            </a:r>
            <a:endParaRPr lang="en-US" sz="880" dirty="0"/>
          </a:p>
        </p:txBody>
      </p:sp>
      <p:sp>
        <p:nvSpPr>
          <p:cNvPr id="35" name="Status chip"/>
          <p:cNvSpPr/>
          <p:nvPr/>
        </p:nvSpPr>
        <p:spPr>
          <a:xfrm>
            <a:off x="7205472" y="2852928"/>
            <a:ext cx="731520" cy="182880"/>
          </a:xfrm>
          <a:prstGeom prst="roundRect">
            <a:avLst>
              <a:gd name="adj" fmla="val 25000"/>
            </a:avLst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205472" y="285292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Designed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324612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Evaluation (offline, in Python)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2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Detection delay and files changed before alert, per run</a:t>
            </a:r>
            <a:endParaRPr lang="en-US" sz="92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2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Precision, recall, false-positive rate over repeated runs</a:t>
            </a:r>
            <a:endParaRPr lang="en-US" sz="92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2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CPU and memory cost of the detector service</a:t>
            </a:r>
            <a:endParaRPr lang="en-US" sz="92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2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Ablation: rule-only vs. anomaly-only vs. hybrid</a:t>
            </a:r>
            <a:endParaRPr lang="en-US" sz="92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324612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45F06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Safety boundaries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66344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2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Synthetic files only; reversible transform, throw-away key; dataset restored each run</a:t>
            </a:r>
            <a:endParaRPr lang="en-US" sz="92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2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Monitoring limited to one app-owned test directory</a:t>
            </a:r>
            <a:endParaRPr lang="en-US" sz="92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2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Containment kills only the harness-spawned simulator process</a:t>
            </a:r>
            <a:endParaRPr lang="en-US" sz="92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2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Status: design complete, build pending. No results claimed yet.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 txBox="1"/>
          <p:nvPr/>
        </p:nvSpPr>
        <p:spPr>
          <a:xfrm>
            <a:off x="2286000" y="73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AIORI 3      Solution Optimization</a:t>
            </a:r>
            <a:endParaRPr lang="en-US" sz="75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Optimization Proposed</a:t>
            </a:r>
            <a:endParaRPr lang="en-US" sz="2400" dirty="0"/>
          </a:p>
        </p:txBody>
      </p:sp>
      <p:sp>
        <p:nvSpPr>
          <p:cNvPr id="4" name="Subtitle"/>
          <p:cNvSpPr txBox="1"/>
          <p:nvPr/>
        </p:nvSpPr>
        <p:spPr>
          <a:xfrm>
            <a:off x="457200" y="822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Fixed-threshold baseline vs. the proposed hybrid detector (targets to be verified).</a:t>
            </a:r>
            <a:endParaRPr lang="en-US" sz="1250" dirty="0"/>
          </a:p>
        </p:txBody>
      </p:sp>
      <p:sp>
        <p:nvSpPr>
          <p:cNvPr id="5" name="Footer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D. Grace T T • </a:t>
            </a: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A3-PS001-TC034</a:t>
            </a: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• October 13, 2026</a:t>
            </a:r>
            <a:endParaRPr lang="en-US" sz="750" dirty="0"/>
          </a:p>
        </p:txBody>
      </p:sp>
      <p:sp>
        <p:nvSpPr>
          <p:cNvPr id="6" name="Page number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6 / 11</a:t>
            </a:r>
            <a:endParaRPr lang="en-US" sz="750" dirty="0"/>
          </a:p>
        </p:txBody>
      </p:sp>
      <p:graphicFrame>
        <p:nvGraphicFramePr>
          <p:cNvPr id="7" name="Before-af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2494788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Aspect</a:t>
                      </a:r>
                      <a:endParaRPr lang="en-US" sz="10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Before: single fixed rule</a:t>
                      </a:r>
                      <a:endParaRPr lang="en-US" sz="10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After: proposed hybrid</a:t>
                      </a:r>
                      <a:endParaRPr lang="en-US" sz="10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How it will be verified</a:t>
                      </a:r>
                      <a:endParaRPr lang="en-US" sz="105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Trigger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One event-count threshold in a fixed window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Multi-feature rules + adaptive anomaly score (median/MAD z-score vs. benign baseline)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555555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Ablation: rule-only / anomaly-only / hybrid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False positives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Benign bursts (bulk copy, autosave) cross the threshold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Threshold calibrated on benign runs; sustained windows needed; borderline scores wait one more window [8]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555555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FPR on B1, B2 runs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Alert latency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Waits for a full window to close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Overlapping windows (2 s / 250 ms hop) + immediate trigger on high-confidence rule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555555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Detection delay (ms), files changed before alert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Slow encryptors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Low-rate activity stays under the threshold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Cumulative-count and EWMA features; Markov sequence model as stretch goal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555555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Throttled simulation S3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Explainability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Binary alert, no reason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Risk score with per-feature contributions, logged with every alert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555555"/>
                          </a:solidFill>
                          <a:latin typeface="PT Sans" pitchFamily="34" charset="0"/>
                          <a:ea typeface="PT Sans" pitchFamily="34" charset="-122"/>
                          <a:cs typeface="PT Sans" pitchFamily="34" charset="-120"/>
                        </a:rPr>
                        <a:t>Inspect alert log and dashboard</a:t>
                      </a:r>
                      <a:endParaRPr lang="en-US" sz="1000" dirty="0">
                        <a:latin typeface="PT Sans" charset="0"/>
                        <a:ea typeface="PT Sans" charset="0"/>
                        <a:cs typeface="PT San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B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074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B45F06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No improvement figures are claimed: every entry above is a hypothesis to be confirmed by measured runs.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 txBox="1"/>
          <p:nvPr/>
        </p:nvSpPr>
        <p:spPr>
          <a:xfrm>
            <a:off x="2286000" y="73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AIORI 3      Architecture Design (UML Diagram)</a:t>
            </a:r>
            <a:endParaRPr lang="en-US" sz="75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Solution Architecture &amp; Design</a:t>
            </a:r>
            <a:endParaRPr lang="en-US" sz="2400" dirty="0"/>
          </a:p>
        </p:txBody>
      </p:sp>
      <p:sp>
        <p:nvSpPr>
          <p:cNvPr id="4" name="Subtitle"/>
          <p:cNvSpPr txBox="1"/>
          <p:nvPr/>
        </p:nvSpPr>
        <p:spPr>
          <a:xfrm>
            <a:off x="457200" y="822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Harness, detector service and offline analysis on one documented lab device.</a:t>
            </a:r>
            <a:endParaRPr lang="en-US" sz="1250" dirty="0"/>
          </a:p>
        </p:txBody>
      </p:sp>
      <p:sp>
        <p:nvSpPr>
          <p:cNvPr id="5" name="Footer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D. Grace T T • </a:t>
            </a: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A3-PS001-TC034</a:t>
            </a: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• October 13, 2026</a:t>
            </a:r>
            <a:endParaRPr lang="en-US" sz="750" dirty="0"/>
          </a:p>
        </p:txBody>
      </p:sp>
      <p:sp>
        <p:nvSpPr>
          <p:cNvPr id="6" name="Page number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7 / 11</a:t>
            </a:r>
            <a:endParaRPr lang="en-US" sz="750" dirty="0"/>
          </a:p>
        </p:txBody>
      </p:sp>
      <p:sp>
        <p:nvSpPr>
          <p:cNvPr id="7" name="Device container"/>
          <p:cNvSpPr/>
          <p:nvPr/>
        </p:nvSpPr>
        <p:spPr>
          <a:xfrm>
            <a:off x="365760" y="1280160"/>
            <a:ext cx="612648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DC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57200" y="1298448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«device»  Android emulator (AVD) or rooted lab device</a:t>
            </a:r>
            <a:endParaRPr lang="en-US" sz="850" dirty="0"/>
          </a:p>
        </p:txBody>
      </p:sp>
      <p:sp>
        <p:nvSpPr>
          <p:cNvPr id="9" name="Harness container"/>
          <p:cNvSpPr/>
          <p:nvPr/>
        </p:nvSpPr>
        <p:spPr>
          <a:xfrm>
            <a:off x="502920" y="1554480"/>
            <a:ext cx="1645920" cy="301752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57276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«app»  Test Harness (Kotlin)</a:t>
            </a:r>
            <a:endParaRPr lang="en-US" sz="750" dirty="0"/>
          </a:p>
        </p:txBody>
      </p:sp>
      <p:sp>
        <p:nvSpPr>
          <p:cNvPr id="11" name="Box"/>
          <p:cNvSpPr/>
          <p:nvPr/>
        </p:nvSpPr>
        <p:spPr>
          <a:xfrm>
            <a:off x="594360" y="182880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936" y="1828800"/>
            <a:ext cx="138988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Simulations S1–S3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(separate process :sim)</a:t>
            </a:r>
            <a:endParaRPr lang="en-US" sz="800" dirty="0"/>
          </a:p>
        </p:txBody>
      </p:sp>
      <p:sp>
        <p:nvSpPr>
          <p:cNvPr id="13" name="Box"/>
          <p:cNvSpPr/>
          <p:nvPr/>
        </p:nvSpPr>
        <p:spPr>
          <a:xfrm>
            <a:off x="594360" y="2514600"/>
            <a:ext cx="14630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0936" y="2514600"/>
            <a:ext cx="138988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Benign workloads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B1, B2</a:t>
            </a:r>
            <a:endParaRPr lang="en-US" sz="800" dirty="0"/>
          </a:p>
        </p:txBody>
      </p:sp>
      <p:sp>
        <p:nvSpPr>
          <p:cNvPr id="15" name="Box"/>
          <p:cNvSpPr/>
          <p:nvPr/>
        </p:nvSpPr>
        <p:spPr>
          <a:xfrm>
            <a:off x="594360" y="3136392"/>
            <a:ext cx="14630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" y="3136392"/>
            <a:ext cx="138988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Scenario Runner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(labels ground truth)</a:t>
            </a:r>
            <a:endParaRPr lang="en-US" sz="800" dirty="0"/>
          </a:p>
        </p:txBody>
      </p:sp>
      <p:sp>
        <p:nvSpPr>
          <p:cNvPr id="17" name="Box"/>
          <p:cNvSpPr/>
          <p:nvPr/>
        </p:nvSpPr>
        <p:spPr>
          <a:xfrm>
            <a:off x="594360" y="3840480"/>
            <a:ext cx="1463040" cy="548640"/>
          </a:xfrm>
          <a:prstGeom prst="rect">
            <a:avLst/>
          </a:prstGeom>
          <a:solidFill>
            <a:srgbClr val="E6E6F7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0936" y="3840480"/>
            <a:ext cx="1389888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Test directory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(app-owned, synthetic files)</a:t>
            </a:r>
            <a:endParaRPr lang="en-US" sz="800" dirty="0"/>
          </a:p>
        </p:txBody>
      </p:sp>
      <p:sp>
        <p:nvSpPr>
          <p:cNvPr id="19" name="Detector container"/>
          <p:cNvSpPr/>
          <p:nvPr/>
        </p:nvSpPr>
        <p:spPr>
          <a:xfrm>
            <a:off x="2331720" y="1554480"/>
            <a:ext cx="4023360" cy="301752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395728" y="15727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«service»  Detector Service (Kotlin)</a:t>
            </a:r>
            <a:endParaRPr lang="en-US" sz="750" dirty="0"/>
          </a:p>
        </p:txBody>
      </p:sp>
      <p:sp>
        <p:nvSpPr>
          <p:cNvPr id="21" name="Box"/>
          <p:cNvSpPr/>
          <p:nvPr/>
        </p:nvSpPr>
        <p:spPr>
          <a:xfrm>
            <a:off x="2468880" y="1874520"/>
            <a:ext cx="1463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05456" y="1874520"/>
            <a:ext cx="1389888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Responder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alert + stop sim PID</a:t>
            </a:r>
            <a:endParaRPr lang="en-US" sz="800" dirty="0"/>
          </a:p>
        </p:txBody>
      </p:sp>
      <p:sp>
        <p:nvSpPr>
          <p:cNvPr id="23" name="Box"/>
          <p:cNvSpPr/>
          <p:nvPr/>
        </p:nvSpPr>
        <p:spPr>
          <a:xfrm>
            <a:off x="4160520" y="1874520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197096" y="1874520"/>
            <a:ext cx="1344168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Risk Scorer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0–100 + reasons</a:t>
            </a:r>
            <a:endParaRPr lang="en-US" sz="800" dirty="0"/>
          </a:p>
        </p:txBody>
      </p:sp>
      <p:sp>
        <p:nvSpPr>
          <p:cNvPr id="25" name="Box"/>
          <p:cNvSpPr/>
          <p:nvPr/>
        </p:nvSpPr>
        <p:spPr>
          <a:xfrm>
            <a:off x="2468880" y="2788920"/>
            <a:ext cx="1463040" cy="640080"/>
          </a:xfrm>
          <a:prstGeom prst="rect">
            <a:avLst/>
          </a:prstGeom>
          <a:solidFill>
            <a:srgbClr val="E6E6F7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505456" y="2788920"/>
            <a:ext cx="138988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Config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thresholds + baseline</a:t>
            </a:r>
            <a:endParaRPr lang="en-US" sz="800" dirty="0"/>
          </a:p>
        </p:txBody>
      </p:sp>
      <p:sp>
        <p:nvSpPr>
          <p:cNvPr id="27" name="Box"/>
          <p:cNvSpPr/>
          <p:nvPr/>
        </p:nvSpPr>
        <p:spPr>
          <a:xfrm>
            <a:off x="4160520" y="2743200"/>
            <a:ext cx="14173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7096" y="2743200"/>
            <a:ext cx="1344168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Detection Engine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Rules · z-score/EWMA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Markov (stretch)</a:t>
            </a:r>
            <a:endParaRPr lang="en-US" sz="800" dirty="0"/>
          </a:p>
        </p:txBody>
      </p:sp>
      <p:sp>
        <p:nvSpPr>
          <p:cNvPr id="29" name="Box"/>
          <p:cNvSpPr/>
          <p:nvPr/>
        </p:nvSpPr>
        <p:spPr>
          <a:xfrm>
            <a:off x="2468880" y="3840480"/>
            <a:ext cx="14630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505456" y="3840480"/>
            <a:ext cx="1389888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FileObserver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Monitor</a:t>
            </a:r>
            <a:endParaRPr lang="en-US" sz="800" dirty="0"/>
          </a:p>
        </p:txBody>
      </p:sp>
      <p:sp>
        <p:nvSpPr>
          <p:cNvPr id="31" name="Box"/>
          <p:cNvSpPr/>
          <p:nvPr/>
        </p:nvSpPr>
        <p:spPr>
          <a:xfrm>
            <a:off x="4160520" y="3840480"/>
            <a:ext cx="1417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197096" y="3840480"/>
            <a:ext cx="1344168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Window + Feature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Extractor</a:t>
            </a:r>
            <a:endParaRPr lang="en-US" sz="800" dirty="0"/>
          </a:p>
        </p:txBody>
      </p:sp>
      <p:sp>
        <p:nvSpPr>
          <p:cNvPr id="33" name="Logger"/>
          <p:cNvSpPr/>
          <p:nvPr/>
        </p:nvSpPr>
        <p:spPr>
          <a:xfrm>
            <a:off x="5760720" y="1874520"/>
            <a:ext cx="502920" cy="2514600"/>
          </a:xfrm>
          <a:prstGeom prst="rect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760720" y="1874520"/>
            <a:ext cx="502920" cy="25146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JSONL event + decision logger</a:t>
            </a:r>
            <a:endParaRPr lang="en-US" sz="800" dirty="0"/>
          </a:p>
        </p:txBody>
      </p:sp>
      <p:sp>
        <p:nvSpPr>
          <p:cNvPr id="35" name="Host container"/>
          <p:cNvSpPr/>
          <p:nvPr/>
        </p:nvSpPr>
        <p:spPr>
          <a:xfrm>
            <a:off x="6675120" y="1280160"/>
            <a:ext cx="210312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DC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6748272" y="129844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«host»  Analysis (Python)</a:t>
            </a:r>
            <a:endParaRPr lang="en-US" sz="850" dirty="0"/>
          </a:p>
        </p:txBody>
      </p:sp>
      <p:sp>
        <p:nvSpPr>
          <p:cNvPr id="37" name="Box"/>
          <p:cNvSpPr/>
          <p:nvPr/>
        </p:nvSpPr>
        <p:spPr>
          <a:xfrm>
            <a:off x="6858000" y="1874520"/>
            <a:ext cx="1737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94576" y="1874520"/>
            <a:ext cx="1664208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adb pull logs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(JSONL / CSV)</a:t>
            </a:r>
            <a:endParaRPr lang="en-US" sz="850" dirty="0"/>
          </a:p>
        </p:txBody>
      </p:sp>
      <p:sp>
        <p:nvSpPr>
          <p:cNvPr id="39" name="Box"/>
          <p:cNvSpPr/>
          <p:nvPr/>
        </p:nvSpPr>
        <p:spPr>
          <a:xfrm>
            <a:off x="6858000" y="2743200"/>
            <a:ext cx="1737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94576" y="2743200"/>
            <a:ext cx="166420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NumPy / scikit-learn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metrics + ablation</a:t>
            </a:r>
            <a:endParaRPr lang="en-US" sz="850" dirty="0"/>
          </a:p>
        </p:txBody>
      </p:sp>
      <p:sp>
        <p:nvSpPr>
          <p:cNvPr id="41" name="Box"/>
          <p:cNvSpPr/>
          <p:nvPr/>
        </p:nvSpPr>
        <p:spPr>
          <a:xfrm>
            <a:off x="6858000" y="3703320"/>
            <a:ext cx="1737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94576" y="3703320"/>
            <a:ext cx="166420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Streamlit dashboard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delay · files lost · P/R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726680" y="2468880"/>
            <a:ext cx="0" cy="27432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726680" y="3429000"/>
            <a:ext cx="0" cy="27432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45" name="Arrow"/>
          <p:cNvSpPr/>
          <p:nvPr/>
        </p:nvSpPr>
        <p:spPr>
          <a:xfrm>
            <a:off x="6263640" y="2167128"/>
            <a:ext cx="59436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46" name="Arrow"/>
          <p:cNvSpPr/>
          <p:nvPr/>
        </p:nvSpPr>
        <p:spPr>
          <a:xfrm>
            <a:off x="2057400" y="4114800"/>
            <a:ext cx="41148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47" name="Arrow"/>
          <p:cNvSpPr/>
          <p:nvPr/>
        </p:nvSpPr>
        <p:spPr>
          <a:xfrm>
            <a:off x="3931920" y="4114800"/>
            <a:ext cx="22860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4869180" y="3474720"/>
            <a:ext cx="0" cy="36576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4869180" y="2468880"/>
            <a:ext cx="0" cy="27432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50" name="Arrow"/>
          <p:cNvSpPr/>
          <p:nvPr/>
        </p:nvSpPr>
        <p:spPr>
          <a:xfrm flipH="1">
            <a:off x="3931920" y="2167128"/>
            <a:ext cx="22860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51" name="Arrow"/>
          <p:cNvSpPr/>
          <p:nvPr/>
        </p:nvSpPr>
        <p:spPr>
          <a:xfrm>
            <a:off x="3931920" y="3108960"/>
            <a:ext cx="22860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52" name="Arrow"/>
          <p:cNvSpPr/>
          <p:nvPr/>
        </p:nvSpPr>
        <p:spPr>
          <a:xfrm flipH="1">
            <a:off x="2057400" y="2011680"/>
            <a:ext cx="411480" cy="0"/>
          </a:xfrm>
          <a:prstGeom prst="line">
            <a:avLst/>
          </a:prstGeom>
          <a:noFill/>
          <a:ln w="15875">
            <a:solidFill>
              <a:srgbClr val="B45F06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2011680" y="180136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i="1" dirty="0">
                <a:solidFill>
                  <a:srgbClr val="B45F06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stop(PID)</a:t>
            </a:r>
            <a:endParaRPr lang="en-US" sz="650" dirty="0"/>
          </a:p>
        </p:txBody>
      </p:sp>
      <p:sp>
        <p:nvSpPr>
          <p:cNvPr id="54" name="Text 52"/>
          <p:cNvSpPr txBox="1"/>
          <p:nvPr/>
        </p:nvSpPr>
        <p:spPr>
          <a:xfrm>
            <a:off x="2011680" y="370332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inotify events</a:t>
            </a:r>
            <a:endParaRPr lang="en-US" sz="600" dirty="0"/>
          </a:p>
        </p:txBody>
      </p:sp>
      <p:sp>
        <p:nvSpPr>
          <p:cNvPr id="55" name="Text 53"/>
          <p:cNvSpPr txBox="1"/>
          <p:nvPr/>
        </p:nvSpPr>
        <p:spPr>
          <a:xfrm>
            <a:off x="365760" y="4681728"/>
            <a:ext cx="8412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i="1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Amber arrow: containment reaches only the simulator process. Markov model is a stretch goal. Status: architecture designed; components not yet built.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 txBox="1"/>
          <p:nvPr/>
        </p:nvSpPr>
        <p:spPr>
          <a:xfrm>
            <a:off x="2286000" y="73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AIORI 3      Data Flow Diagram</a:t>
            </a:r>
            <a:endParaRPr lang="en-US" sz="75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Data Flow Diagram</a:t>
            </a:r>
            <a:endParaRPr lang="en-US" sz="2400" dirty="0"/>
          </a:p>
        </p:txBody>
      </p:sp>
      <p:sp>
        <p:nvSpPr>
          <p:cNvPr id="4" name="Subtitle"/>
          <p:cNvSpPr txBox="1"/>
          <p:nvPr/>
        </p:nvSpPr>
        <p:spPr>
          <a:xfrm>
            <a:off x="457200" y="822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How a file event becomes a feature, a risk score, a response and a logged measurement.</a:t>
            </a:r>
            <a:endParaRPr lang="en-US" sz="1250" dirty="0"/>
          </a:p>
        </p:txBody>
      </p:sp>
      <p:sp>
        <p:nvSpPr>
          <p:cNvPr id="5" name="Footer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D. Grace T T • </a:t>
            </a: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A3-PS001-TC034</a:t>
            </a: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• October 13, 2026</a:t>
            </a:r>
            <a:endParaRPr lang="en-US" sz="750" dirty="0"/>
          </a:p>
        </p:txBody>
      </p:sp>
      <p:sp>
        <p:nvSpPr>
          <p:cNvPr id="6" name="Page number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8 / 11</a:t>
            </a:r>
            <a:endParaRPr lang="en-US" sz="750" dirty="0"/>
          </a:p>
        </p:txBody>
      </p:sp>
      <p:sp>
        <p:nvSpPr>
          <p:cNvPr id="7" name="External entity"/>
          <p:cNvSpPr/>
          <p:nvPr/>
        </p:nvSpPr>
        <p:spPr>
          <a:xfrm>
            <a:off x="457200" y="1508760"/>
            <a:ext cx="1371600" cy="731520"/>
          </a:xfrm>
          <a:prstGeom prst="rect">
            <a:avLst/>
          </a:prstGeom>
          <a:solidFill>
            <a:srgbClr val="E6E6F7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" y="1508760"/>
            <a:ext cx="1298448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Scenario Runner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(test harness)</a:t>
            </a:r>
            <a:endParaRPr lang="en-US" sz="850" dirty="0"/>
          </a:p>
        </p:txBody>
      </p:sp>
      <p:sp>
        <p:nvSpPr>
          <p:cNvPr id="9" name="Process"/>
          <p:cNvSpPr/>
          <p:nvPr/>
        </p:nvSpPr>
        <p:spPr>
          <a:xfrm>
            <a:off x="2103120" y="15087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F3F3FB"/>
          </a:solidFill>
          <a:ln w="15875">
            <a:solidFill>
              <a:srgbClr val="0000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39696" y="1508760"/>
            <a:ext cx="1298448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P1 Run workload</a:t>
            </a:r>
            <a:endParaRPr lang="en-US" sz="8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benign B1/B2 or simulation S1–S3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749040" y="160020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49040" y="1600200"/>
            <a:ext cx="137160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49040" y="2148840"/>
            <a:ext cx="137160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</a:ln>
        </p:spPr>
      </p:sp>
      <p:sp>
        <p:nvSpPr>
          <p:cNvPr id="14" name="Data store"/>
          <p:cNvSpPr txBox="1"/>
          <p:nvPr/>
        </p:nvSpPr>
        <p:spPr>
          <a:xfrm>
            <a:off x="374904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  Test directory</a:t>
            </a:r>
            <a:endParaRPr lang="en-US" sz="850" dirty="0"/>
          </a:p>
        </p:txBody>
      </p:sp>
      <p:sp>
        <p:nvSpPr>
          <p:cNvPr id="15" name="Process"/>
          <p:cNvSpPr/>
          <p:nvPr/>
        </p:nvSpPr>
        <p:spPr>
          <a:xfrm>
            <a:off x="5394960" y="15087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F3F3FB"/>
          </a:solidFill>
          <a:ln w="15875">
            <a:solidFill>
              <a:srgbClr val="0000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31536" y="1508760"/>
            <a:ext cx="1298448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P2 Capture events</a:t>
            </a:r>
            <a:endParaRPr lang="en-US" sz="8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FileObserver / inotify</a:t>
            </a:r>
            <a:endParaRPr lang="en-US" sz="850" dirty="0"/>
          </a:p>
        </p:txBody>
      </p:sp>
      <p:sp>
        <p:nvSpPr>
          <p:cNvPr id="17" name="Process"/>
          <p:cNvSpPr/>
          <p:nvPr/>
        </p:nvSpPr>
        <p:spPr>
          <a:xfrm>
            <a:off x="7040880" y="15087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F3F3FB"/>
          </a:solidFill>
          <a:ln w="15875">
            <a:solidFill>
              <a:srgbClr val="0000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77456" y="1508760"/>
            <a:ext cx="1298448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P3 Build features</a:t>
            </a:r>
            <a:endParaRPr lang="en-US" sz="8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rolling window</a:t>
            </a:r>
            <a:endParaRPr lang="en-US" sz="850" dirty="0"/>
          </a:p>
        </p:txBody>
      </p:sp>
      <p:sp>
        <p:nvSpPr>
          <p:cNvPr id="19" name="Arrow"/>
          <p:cNvSpPr/>
          <p:nvPr/>
        </p:nvSpPr>
        <p:spPr>
          <a:xfrm>
            <a:off x="1828800" y="1874520"/>
            <a:ext cx="27432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20" name="Arrow"/>
          <p:cNvSpPr/>
          <p:nvPr/>
        </p:nvSpPr>
        <p:spPr>
          <a:xfrm>
            <a:off x="3474720" y="1874520"/>
            <a:ext cx="27432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21" name="Arrow"/>
          <p:cNvSpPr/>
          <p:nvPr/>
        </p:nvSpPr>
        <p:spPr>
          <a:xfrm>
            <a:off x="5120640" y="1874520"/>
            <a:ext cx="27432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22" name="Arrow"/>
          <p:cNvSpPr/>
          <p:nvPr/>
        </p:nvSpPr>
        <p:spPr>
          <a:xfrm>
            <a:off x="6766560" y="1874520"/>
            <a:ext cx="27432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474720" y="167335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file ops</a:t>
            </a:r>
            <a:endParaRPr lang="en-US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2039112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FS events</a:t>
            </a:r>
            <a:endParaRPr lang="en-US" sz="600" dirty="0"/>
          </a:p>
        </p:txBody>
      </p:sp>
      <p:sp>
        <p:nvSpPr>
          <p:cNvPr id="25" name="Arrow"/>
          <p:cNvSpPr/>
          <p:nvPr/>
        </p:nvSpPr>
        <p:spPr>
          <a:xfrm>
            <a:off x="7726680" y="2240280"/>
            <a:ext cx="0" cy="68580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772400" y="22585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50" i="1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feature vectors</a:t>
            </a:r>
            <a:endParaRPr lang="en-US" sz="650" dirty="0"/>
          </a:p>
        </p:txBody>
      </p:sp>
      <p:sp>
        <p:nvSpPr>
          <p:cNvPr id="27" name="Process"/>
          <p:cNvSpPr/>
          <p:nvPr/>
        </p:nvSpPr>
        <p:spPr>
          <a:xfrm>
            <a:off x="7040880" y="292608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F3F3FB"/>
          </a:solidFill>
          <a:ln w="15875">
            <a:solidFill>
              <a:srgbClr val="0000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77456" y="2926080"/>
            <a:ext cx="1298448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P4 Detect and score</a:t>
            </a:r>
            <a:endParaRPr lang="en-US" sz="8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rules + anomaly (+ Markov)</a:t>
            </a:r>
            <a:endParaRPr lang="en-US" sz="850" dirty="0"/>
          </a:p>
        </p:txBody>
      </p:sp>
      <p:sp>
        <p:nvSpPr>
          <p:cNvPr id="29" name="Process"/>
          <p:cNvSpPr/>
          <p:nvPr/>
        </p:nvSpPr>
        <p:spPr>
          <a:xfrm>
            <a:off x="5394960" y="292608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F3F3FB"/>
          </a:solidFill>
          <a:ln w="15875">
            <a:solidFill>
              <a:srgbClr val="0000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31536" y="2926080"/>
            <a:ext cx="1298448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P5 Respond</a:t>
            </a:r>
            <a:endParaRPr lang="en-US" sz="8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alert; stop simulator PID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749040" y="301752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49040" y="3017520"/>
            <a:ext cx="137160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49040" y="3566160"/>
            <a:ext cx="137160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</a:ln>
        </p:spPr>
      </p:sp>
      <p:sp>
        <p:nvSpPr>
          <p:cNvPr id="34" name="Data store"/>
          <p:cNvSpPr txBox="1"/>
          <p:nvPr/>
        </p:nvSpPr>
        <p:spPr>
          <a:xfrm>
            <a:off x="3749040" y="3017520"/>
            <a:ext cx="13716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D3  Event + decision logs</a:t>
            </a:r>
            <a:endParaRPr lang="en-US" sz="850" dirty="0"/>
          </a:p>
        </p:txBody>
      </p:sp>
      <p:sp>
        <p:nvSpPr>
          <p:cNvPr id="35" name="Process"/>
          <p:cNvSpPr/>
          <p:nvPr/>
        </p:nvSpPr>
        <p:spPr>
          <a:xfrm>
            <a:off x="2103120" y="292608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F3F3FB"/>
          </a:solidFill>
          <a:ln w="15875">
            <a:solidFill>
              <a:srgbClr val="0000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139696" y="2926080"/>
            <a:ext cx="1298448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P6 Evaluate</a:t>
            </a:r>
            <a:endParaRPr lang="en-US" sz="8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delay, files lost, P/R, FPR</a:t>
            </a:r>
            <a:endParaRPr lang="en-US" sz="850" dirty="0"/>
          </a:p>
        </p:txBody>
      </p:sp>
      <p:sp>
        <p:nvSpPr>
          <p:cNvPr id="37" name="External entity"/>
          <p:cNvSpPr/>
          <p:nvPr/>
        </p:nvSpPr>
        <p:spPr>
          <a:xfrm>
            <a:off x="457200" y="2926080"/>
            <a:ext cx="1371600" cy="731520"/>
          </a:xfrm>
          <a:prstGeom prst="rect">
            <a:avLst/>
          </a:prstGeom>
          <a:solidFill>
            <a:srgbClr val="E6E6F7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93776" y="2926080"/>
            <a:ext cx="1298448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Mentor / Streamlit dashboard</a:t>
            </a:r>
            <a:endParaRPr lang="en-US" sz="850" dirty="0"/>
          </a:p>
        </p:txBody>
      </p:sp>
      <p:sp>
        <p:nvSpPr>
          <p:cNvPr id="39" name="Arrow"/>
          <p:cNvSpPr/>
          <p:nvPr/>
        </p:nvSpPr>
        <p:spPr>
          <a:xfrm flipH="1">
            <a:off x="6766560" y="3291840"/>
            <a:ext cx="27432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40" name="Arrow"/>
          <p:cNvSpPr/>
          <p:nvPr/>
        </p:nvSpPr>
        <p:spPr>
          <a:xfrm flipH="1">
            <a:off x="5120640" y="3291840"/>
            <a:ext cx="27432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41" name="Arrow"/>
          <p:cNvSpPr/>
          <p:nvPr/>
        </p:nvSpPr>
        <p:spPr>
          <a:xfrm flipH="1">
            <a:off x="3474720" y="3291840"/>
            <a:ext cx="27432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42" name="Arrow"/>
          <p:cNvSpPr/>
          <p:nvPr/>
        </p:nvSpPr>
        <p:spPr>
          <a:xfrm flipH="1">
            <a:off x="1828800" y="3291840"/>
            <a:ext cx="27432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5029200" y="3383280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alerts</a:t>
            </a:r>
            <a:endParaRPr lang="en-US" sz="600" dirty="0"/>
          </a:p>
        </p:txBody>
      </p:sp>
      <p:sp>
        <p:nvSpPr>
          <p:cNvPr id="44" name="Arrow"/>
          <p:cNvSpPr/>
          <p:nvPr/>
        </p:nvSpPr>
        <p:spPr>
          <a:xfrm flipH="1" flipV="1">
            <a:off x="2926080" y="2240280"/>
            <a:ext cx="2468880" cy="731520"/>
          </a:xfrm>
          <a:prstGeom prst="line">
            <a:avLst/>
          </a:prstGeom>
          <a:noFill/>
          <a:ln w="15875">
            <a:solidFill>
              <a:srgbClr val="B45F06"/>
            </a:solidFill>
            <a:prstDash val="dash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3246120" y="2487168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i="1" dirty="0">
                <a:solidFill>
                  <a:srgbClr val="B45F06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stop signal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7040880" y="406908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040880" y="4069080"/>
            <a:ext cx="137160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040880" y="4617720"/>
            <a:ext cx="1371600" cy="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</a:ln>
        </p:spPr>
      </p:sp>
      <p:sp>
        <p:nvSpPr>
          <p:cNvPr id="49" name="Data store"/>
          <p:cNvSpPr txBox="1"/>
          <p:nvPr/>
        </p:nvSpPr>
        <p:spPr>
          <a:xfrm>
            <a:off x="704088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  Baseline + thresholds</a:t>
            </a:r>
            <a:endParaRPr lang="en-US" sz="850" dirty="0"/>
          </a:p>
        </p:txBody>
      </p:sp>
      <p:sp>
        <p:nvSpPr>
          <p:cNvPr id="50" name="Arrow"/>
          <p:cNvSpPr/>
          <p:nvPr/>
        </p:nvSpPr>
        <p:spPr>
          <a:xfrm flipV="1">
            <a:off x="7726680" y="3657600"/>
            <a:ext cx="0" cy="411480"/>
          </a:xfrm>
          <a:prstGeom prst="line">
            <a:avLst/>
          </a:prstGeom>
          <a:noFill/>
          <a:ln w="15875">
            <a:solidFill>
              <a:srgbClr val="0000DC"/>
            </a:solidFill>
            <a:prstDash val="solid"/>
            <a:tailEnd type="triangle"/>
          </a:ln>
        </p:spPr>
      </p:sp>
      <p:sp>
        <p:nvSpPr>
          <p:cNvPr id="51" name="Figure caption"/>
          <p:cNvSpPr txBox="1"/>
          <p:nvPr/>
        </p:nvSpPr>
        <p:spPr>
          <a:xfrm>
            <a:off x="457200" y="41605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Figure: </a:t>
            </a:r>
            <a:r>
              <a:rPr lang="en-US" sz="85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Data Flow Diagram (DFD). Dashed amber line: stop signal reaching only the simulator process (P1). Planned design; not yet implemented.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 txBox="1"/>
          <p:nvPr/>
        </p:nvSpPr>
        <p:spPr>
          <a:xfrm>
            <a:off x="2286000" y="73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AIORI 3      Deployment Timeline</a:t>
            </a:r>
            <a:endParaRPr lang="en-US" sz="75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Deployment Timeline</a:t>
            </a:r>
            <a:endParaRPr lang="en-US" sz="2400" dirty="0"/>
          </a:p>
        </p:txBody>
      </p:sp>
      <p:sp>
        <p:nvSpPr>
          <p:cNvPr id="4" name="Subtitle"/>
          <p:cNvSpPr txBox="1"/>
          <p:nvPr/>
        </p:nvSpPr>
        <p:spPr>
          <a:xfrm>
            <a:off x="457200" y="822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Six iterative phases, each ending in a logged, reproducible run in the repo.</a:t>
            </a:r>
            <a:endParaRPr lang="en-US" sz="1250" dirty="0"/>
          </a:p>
        </p:txBody>
      </p:sp>
      <p:sp>
        <p:nvSpPr>
          <p:cNvPr id="5" name="Footer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D. Grace T T • </a:t>
            </a: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A3-PS001-TC034</a:t>
            </a: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• October 13, 2026</a:t>
            </a:r>
            <a:endParaRPr lang="en-US" sz="750" dirty="0"/>
          </a:p>
        </p:txBody>
      </p:sp>
      <p:sp>
        <p:nvSpPr>
          <p:cNvPr id="6" name="Page number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9 / 11</a:t>
            </a:r>
            <a:endParaRPr lang="en-US" sz="750" dirty="0"/>
          </a:p>
        </p:txBody>
      </p:sp>
      <p:sp>
        <p:nvSpPr>
          <p:cNvPr id="7" name="Phase 1"/>
          <p:cNvSpPr/>
          <p:nvPr/>
        </p:nvSpPr>
        <p:spPr>
          <a:xfrm>
            <a:off x="457200" y="1371600"/>
            <a:ext cx="1298448" cy="457200"/>
          </a:xfrm>
          <a:prstGeom prst="homePlat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" y="1371600"/>
            <a:ext cx="1024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Phase 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901952"/>
            <a:ext cx="1298448" cy="214884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0352" y="194767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Lab + telemetry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0352" y="2240280"/>
            <a:ext cx="1152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AVD set-up, FileObserver logger, private repo shared with aiori-hackathon</a:t>
            </a:r>
            <a:endParaRPr lang="en-US" sz="83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340156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Exit: </a:t>
            </a:r>
            <a:r>
              <a:rPr lang="en-US" sz="800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Raw event log from a test run</a:t>
            </a:r>
            <a:endParaRPr lang="en-US" sz="800" dirty="0"/>
          </a:p>
        </p:txBody>
      </p:sp>
      <p:sp>
        <p:nvSpPr>
          <p:cNvPr id="13" name="Status chip"/>
          <p:cNvSpPr/>
          <p:nvPr/>
        </p:nvSpPr>
        <p:spPr>
          <a:xfrm>
            <a:off x="530352" y="3813048"/>
            <a:ext cx="640080" cy="182880"/>
          </a:xfrm>
          <a:prstGeom prst="roundRect">
            <a:avLst>
              <a:gd name="adj" fmla="val 25000"/>
            </a:avLst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" y="38130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Planned</a:t>
            </a:r>
            <a:endParaRPr lang="en-US" sz="700" dirty="0"/>
          </a:p>
        </p:txBody>
      </p:sp>
      <p:sp>
        <p:nvSpPr>
          <p:cNvPr id="15" name="Phase 2"/>
          <p:cNvSpPr/>
          <p:nvPr/>
        </p:nvSpPr>
        <p:spPr>
          <a:xfrm>
            <a:off x="1843430" y="1371600"/>
            <a:ext cx="1298448" cy="457200"/>
          </a:xfrm>
          <a:prstGeom prst="homePlat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16582" y="1371600"/>
            <a:ext cx="1024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Phase 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43430" y="1901952"/>
            <a:ext cx="1298448" cy="214884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16582" y="194767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Workloads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916582" y="2240280"/>
            <a:ext cx="1152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Benign B1, B2 and harmless simulations S1–S3 with ground-truth labels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1916582" y="340156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Exit: </a:t>
            </a:r>
            <a:r>
              <a:rPr lang="en-US" sz="800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Labelled event logs</a:t>
            </a:r>
            <a:endParaRPr lang="en-US" sz="800" dirty="0"/>
          </a:p>
        </p:txBody>
      </p:sp>
      <p:sp>
        <p:nvSpPr>
          <p:cNvPr id="21" name="Status chip"/>
          <p:cNvSpPr/>
          <p:nvPr/>
        </p:nvSpPr>
        <p:spPr>
          <a:xfrm>
            <a:off x="1916582" y="3813048"/>
            <a:ext cx="640080" cy="182880"/>
          </a:xfrm>
          <a:prstGeom prst="roundRect">
            <a:avLst>
              <a:gd name="adj" fmla="val 25000"/>
            </a:avLst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916582" y="38130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Planned</a:t>
            </a:r>
            <a:endParaRPr lang="en-US" sz="700" dirty="0"/>
          </a:p>
        </p:txBody>
      </p:sp>
      <p:sp>
        <p:nvSpPr>
          <p:cNvPr id="23" name="Phase 3"/>
          <p:cNvSpPr/>
          <p:nvPr/>
        </p:nvSpPr>
        <p:spPr>
          <a:xfrm>
            <a:off x="3229661" y="1371600"/>
            <a:ext cx="1298448" cy="457200"/>
          </a:xfrm>
          <a:prstGeom prst="homePlat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02813" y="1371600"/>
            <a:ext cx="1024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Phase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29661" y="1901952"/>
            <a:ext cx="1298448" cy="214884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302813" y="194767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Rule detector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302813" y="2240280"/>
            <a:ext cx="1152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Rolling-window features, rule engine, Responder that stops the simulator</a:t>
            </a:r>
            <a:endParaRPr lang="en-US" sz="830" dirty="0"/>
          </a:p>
        </p:txBody>
      </p:sp>
      <p:sp>
        <p:nvSpPr>
          <p:cNvPr id="28" name="Text 26"/>
          <p:cNvSpPr txBox="1"/>
          <p:nvPr/>
        </p:nvSpPr>
        <p:spPr>
          <a:xfrm>
            <a:off x="3302813" y="340156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Exit: </a:t>
            </a:r>
            <a:r>
              <a:rPr lang="en-US" sz="800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Alert + stop on S1–S3</a:t>
            </a:r>
            <a:endParaRPr lang="en-US" sz="800" dirty="0"/>
          </a:p>
        </p:txBody>
      </p:sp>
      <p:sp>
        <p:nvSpPr>
          <p:cNvPr id="29" name="Status chip"/>
          <p:cNvSpPr/>
          <p:nvPr/>
        </p:nvSpPr>
        <p:spPr>
          <a:xfrm>
            <a:off x="3302813" y="3813048"/>
            <a:ext cx="640080" cy="182880"/>
          </a:xfrm>
          <a:prstGeom prst="roundRect">
            <a:avLst>
              <a:gd name="adj" fmla="val 25000"/>
            </a:avLst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302813" y="38130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Planned</a:t>
            </a:r>
            <a:endParaRPr lang="en-US" sz="700" dirty="0"/>
          </a:p>
        </p:txBody>
      </p:sp>
      <p:sp>
        <p:nvSpPr>
          <p:cNvPr id="31" name="Phase 4"/>
          <p:cNvSpPr/>
          <p:nvPr/>
        </p:nvSpPr>
        <p:spPr>
          <a:xfrm>
            <a:off x="4615891" y="1371600"/>
            <a:ext cx="1298448" cy="457200"/>
          </a:xfrm>
          <a:prstGeom prst="homePlat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89043" y="1371600"/>
            <a:ext cx="1024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Phase 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15891" y="1901952"/>
            <a:ext cx="1298448" cy="214884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89043" y="194767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Anomaly layer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689043" y="2240280"/>
            <a:ext cx="1152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Benign baseline, robust z-score/EWMA, risk score with reasons, threshold calibration</a:t>
            </a:r>
            <a:endParaRPr lang="en-US" sz="830" dirty="0"/>
          </a:p>
        </p:txBody>
      </p:sp>
      <p:sp>
        <p:nvSpPr>
          <p:cNvPr id="36" name="Text 34"/>
          <p:cNvSpPr txBox="1"/>
          <p:nvPr/>
        </p:nvSpPr>
        <p:spPr>
          <a:xfrm>
            <a:off x="4689043" y="340156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Exit: </a:t>
            </a:r>
            <a:r>
              <a:rPr lang="en-US" sz="800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Calibrated threshold</a:t>
            </a:r>
            <a:endParaRPr lang="en-US" sz="800" dirty="0"/>
          </a:p>
        </p:txBody>
      </p:sp>
      <p:sp>
        <p:nvSpPr>
          <p:cNvPr id="37" name="Status chip"/>
          <p:cNvSpPr/>
          <p:nvPr/>
        </p:nvSpPr>
        <p:spPr>
          <a:xfrm>
            <a:off x="4689043" y="3813048"/>
            <a:ext cx="640080" cy="182880"/>
          </a:xfrm>
          <a:prstGeom prst="roundRect">
            <a:avLst>
              <a:gd name="adj" fmla="val 25000"/>
            </a:avLst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689043" y="38130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Planned</a:t>
            </a:r>
            <a:endParaRPr lang="en-US" sz="700" dirty="0"/>
          </a:p>
        </p:txBody>
      </p:sp>
      <p:sp>
        <p:nvSpPr>
          <p:cNvPr id="39" name="Phase 5"/>
          <p:cNvSpPr/>
          <p:nvPr/>
        </p:nvSpPr>
        <p:spPr>
          <a:xfrm>
            <a:off x="6002122" y="1371600"/>
            <a:ext cx="1298448" cy="457200"/>
          </a:xfrm>
          <a:prstGeom prst="homePlat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75274" y="1371600"/>
            <a:ext cx="1024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Phase 5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002122" y="1901952"/>
            <a:ext cx="1298448" cy="214884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075274" y="194767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Evaluate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075274" y="2240280"/>
            <a:ext cx="1152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Repeated runs; delay, files changed, P/R, FPR, CPU/memory; Streamlit dashboard</a:t>
            </a:r>
            <a:endParaRPr lang="en-US" sz="830" dirty="0"/>
          </a:p>
        </p:txBody>
      </p:sp>
      <p:sp>
        <p:nvSpPr>
          <p:cNvPr id="44" name="Text 42"/>
          <p:cNvSpPr txBox="1"/>
          <p:nvPr/>
        </p:nvSpPr>
        <p:spPr>
          <a:xfrm>
            <a:off x="6075274" y="340156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Exit: </a:t>
            </a:r>
            <a:r>
              <a:rPr lang="en-US" sz="800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Results table + plots</a:t>
            </a:r>
            <a:endParaRPr lang="en-US" sz="800" dirty="0"/>
          </a:p>
        </p:txBody>
      </p:sp>
      <p:sp>
        <p:nvSpPr>
          <p:cNvPr id="45" name="Status chip"/>
          <p:cNvSpPr/>
          <p:nvPr/>
        </p:nvSpPr>
        <p:spPr>
          <a:xfrm>
            <a:off x="6075274" y="3813048"/>
            <a:ext cx="640080" cy="182880"/>
          </a:xfrm>
          <a:prstGeom prst="roundRect">
            <a:avLst>
              <a:gd name="adj" fmla="val 25000"/>
            </a:avLst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075274" y="38130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Planned</a:t>
            </a:r>
            <a:endParaRPr lang="en-US" sz="700" dirty="0"/>
          </a:p>
        </p:txBody>
      </p:sp>
      <p:sp>
        <p:nvSpPr>
          <p:cNvPr id="47" name="Phase 6"/>
          <p:cNvSpPr/>
          <p:nvPr/>
        </p:nvSpPr>
        <p:spPr>
          <a:xfrm>
            <a:off x="7388352" y="1371600"/>
            <a:ext cx="1298448" cy="457200"/>
          </a:xfrm>
          <a:prstGeom prst="homePlate">
            <a:avLst/>
          </a:prstGeom>
          <a:solidFill>
            <a:srgbClr val="0000DC"/>
          </a:solidFill>
          <a:ln w="12700">
            <a:solidFill>
              <a:srgbClr val="0000D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461504" y="1371600"/>
            <a:ext cx="1024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Phase 6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388352" y="1901952"/>
            <a:ext cx="1298448" cy="2148840"/>
          </a:xfrm>
          <a:prstGeom prst="rect">
            <a:avLst/>
          </a:prstGeom>
          <a:solidFill>
            <a:srgbClr val="F3F3FB"/>
          </a:solidFill>
          <a:ln w="9525">
            <a:solidFill>
              <a:srgbClr val="B8B8D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461504" y="194767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Demo + docs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7461504" y="2240280"/>
            <a:ext cx="1152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Mentor demo with pseudocode, PDF in repo, setup notes; Markov stretch if time allows</a:t>
            </a:r>
            <a:endParaRPr lang="en-US" sz="830" dirty="0"/>
          </a:p>
        </p:txBody>
      </p:sp>
      <p:sp>
        <p:nvSpPr>
          <p:cNvPr id="52" name="Text 50"/>
          <p:cNvSpPr txBox="1"/>
          <p:nvPr/>
        </p:nvSpPr>
        <p:spPr>
          <a:xfrm>
            <a:off x="7461504" y="340156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Exit: </a:t>
            </a:r>
            <a:r>
              <a:rPr lang="en-US" sz="800" dirty="0">
                <a:solidFill>
                  <a:srgbClr val="555555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Submission package</a:t>
            </a:r>
            <a:endParaRPr lang="en-US" sz="800" dirty="0"/>
          </a:p>
        </p:txBody>
      </p:sp>
      <p:sp>
        <p:nvSpPr>
          <p:cNvPr id="53" name="Status chip"/>
          <p:cNvSpPr/>
          <p:nvPr/>
        </p:nvSpPr>
        <p:spPr>
          <a:xfrm>
            <a:off x="7461504" y="3813048"/>
            <a:ext cx="640080" cy="182880"/>
          </a:xfrm>
          <a:prstGeom prst="roundRect">
            <a:avLst>
              <a:gd name="adj" fmla="val 25000"/>
            </a:avLst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461504" y="38130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Planned</a:t>
            </a:r>
            <a:endParaRPr lang="en-US" sz="70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Methodology: </a:t>
            </a:r>
            <a:r>
              <a:rPr lang="en-US" sz="90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iterative build-measure-refine; every metric comes from logged runs; calendar dates will be fixed to the AIORI-3 schedule. Deliverables tracked: private repo (ownership transfer to aiori-hackathon), PDF per template, prototype demo with pseudocode.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 txBox="1"/>
          <p:nvPr/>
        </p:nvSpPr>
        <p:spPr>
          <a:xfrm>
            <a:off x="2286000" y="73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AIORI 3      Bibliography</a:t>
            </a:r>
            <a:endParaRPr lang="en-US" sz="75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Bibliography</a:t>
            </a:r>
            <a:endParaRPr lang="en-US" sz="2400" dirty="0"/>
          </a:p>
        </p:txBody>
      </p:sp>
      <p:sp>
        <p:nvSpPr>
          <p:cNvPr id="4" name="Footer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D. Grace T T • </a:t>
            </a:r>
            <a:r>
              <a:rPr lang="en-US" sz="750" b="1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A3-PS001-TC034</a:t>
            </a: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• October 13, 2026</a:t>
            </a:r>
            <a:endParaRPr lang="en-US" sz="750" dirty="0"/>
          </a:p>
        </p:txBody>
      </p:sp>
      <p:sp>
        <p:nvSpPr>
          <p:cNvPr id="5" name="Page number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00D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10 / 11</a:t>
            </a:r>
            <a:endParaRPr lang="en-US" sz="750" dirty="0"/>
          </a:p>
        </p:txBody>
      </p:sp>
      <p:sp>
        <p:nvSpPr>
          <p:cNvPr id="6" name="References"/>
          <p:cNvSpPr txBox="1"/>
          <p:nvPr/>
        </p:nvSpPr>
        <p:spPr>
          <a:xfrm>
            <a:off x="457200" y="868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[1]  Android Developers. Security best practices (PS-001 reference). developer.android.com/privacy-and-security/security-best-practices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[2]  Android Developers. FileObserver, API reference. developer.android.com/reference/android/os/FileObserver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[3]  Android Developers. Data and file storage overview (scoped storage). developer.android.com/training/data-storage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[4]  Linux man-pages. inotify(7), monitoring filesystem events. man7.org/linux/man-pages/man7/inotify.7.html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[5]  Android Developers. Android Studio and Android Emulator documentation. developer.android.com/studio/run/emulator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[6]  N. Scaife, H. Carter, P. Traynor, K. Butler. CryptoLock (and Drop It): Stopping Ransomware Attacks on User Data. IEEE ICDCS, 2016.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[7]  B. Caliskan, I. Gulatas, H. H. Kilinc, A. H. Zaim. RansomTrack: A Hybrid Behavioral Analysis Framework for Ransomware Detection. arXiv:2604.08739, 2026.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[8]  P. A. Gagniuc. Antivirus Systems: Detection Methods and Architectures. Algorithms 19(5), 345, 2026. doi:10.3390/a19050345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[9]  M. Hirano, R. Hodota, R. Kobayashi. RanSAP: An open dataset of ransomware storage access patterns. Forensic Sci. Int.: Digital Investigation 40, 301314, 2022.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[10]  M. Hirano, R. Kobayashi. RanSMAP: Open dataset of ransomware storage and memory access patterns. Computers &amp; Security 150, 104202, 2025.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[11]  N. Andronio, S. Zanero, F. Maggi. HelDroid: Dissecting and Detecting Mobile Ransomware. RAID, 2015.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[12]  K. Drabent, R. Janowski, J. M. Batalla. How to circumvent and beat the ransomware in Android: a case study of Locker.cb!tr. Electronics 13, 2212, 2024.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 you"/>
          <p:cNvSpPr txBox="1"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Thank You for Your Attention!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ORI3">
  <a:themeElements>
    <a:clrScheme name="AIORI3">
      <a:dk1>
        <a:srgbClr val="000000"/>
      </a:dk1>
      <a:lt1>
        <a:srgbClr val="FFFFFF"/>
      </a:lt1>
      <a:dk2>
        <a:srgbClr val="1A1A1A"/>
      </a:dk2>
      <a:lt2>
        <a:srgbClr val="F3F3FB"/>
      </a:lt2>
      <a:accent1>
        <a:srgbClr val="0000DC"/>
      </a:accent1>
      <a:accent2>
        <a:srgbClr val="555555"/>
      </a:accent2>
      <a:accent3>
        <a:srgbClr val="B45F06"/>
      </a:accent3>
      <a:accent4>
        <a:srgbClr val="2E7D32"/>
      </a:accent4>
      <a:accent5>
        <a:srgbClr val="8888CC"/>
      </a:accent5>
      <a:accent6>
        <a:srgbClr val="D8D8D8"/>
      </a:accent6>
      <a:hlink>
        <a:srgbClr val="0000DC"/>
      </a:hlink>
      <a:folHlink>
        <a:srgbClr val="555555"/>
      </a:folHlink>
    </a:clrScheme>
    <a:fontScheme name="AIORI3">
      <a:majorFont>
        <a:latin typeface="PT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T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2702</Words>
  <Application>Microsoft Office PowerPoint</Application>
  <PresentationFormat>On-screen Show (16:9)</PresentationFormat>
  <Paragraphs>282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PT Sans</vt:lpstr>
      <vt:lpstr>AIORI3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A3-PS001-TC034 – Android Ransomware-like Activity Early Warning in a Controlled Lab</dc:title>
  <dc:subject>PptxGenJS Presentation</dc:subject>
  <dc:creator>Deepika Grace T T</dc:creator>
  <cp:lastModifiedBy>DEEPIKA GRACE</cp:lastModifiedBy>
  <cp:revision>3</cp:revision>
  <dcterms:created xsi:type="dcterms:W3CDTF">2026-10-13T06:17:36Z</dcterms:created>
  <dcterms:modified xsi:type="dcterms:W3CDTF">2026-10-13T13:36:57Z</dcterms:modified>
</cp:coreProperties>
</file>