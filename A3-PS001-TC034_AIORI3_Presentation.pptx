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Team A3-PS001-TC034, PS-001: Android Ransomware-like Activity Early Warning in a Controlled Lab. Footer date uses the current date; edit if the submission date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PS-001 brief (Description, Challenge, Key Requirements). The scope boundaries mirror the PS-001 key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[1] Android security best practices (PS-001 reference); [2] FileObserver API reference; [3] Android data and file storage overview; [4] Linux inotify(7); [6] Scaife et al., CryptoLock, ICDCS 2016 (entropy, file type change, deletion and similarity indicators). Please re-check the exact FileObserver behaviour on the API level chosen for the emulator before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for RansomTrack (0.96 accuracy, 9.1-9.2 s) are taken from the attached arXiv:2604.08739 paper and relate to Windows PE ransomware, not Android. Gagniuc (Algorithms 2026, 19, 345) is cited for architecture principles only. CryptoLock details should be re-verified against the original paper before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Implemented vs planned: at the time of this proposal everything on this slide is DESIGNED, not implemented. Markov analysis is a stretch extension. Update the status chips (Designed -&gt; Built -&gt; Evaluated) as the prototype progresses. Platform note: FileObserver watches a single directory per instance, so sub-directories need their own observers.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'before' column is our own baseline implementation (a fixed-threshold rule) and will be measured, not assumed. Threshold calibration idea (tune on clean data until false alerts stay below a stated limit; borderline scores trigger a second check) follows the layered-architecture discussion in Gagniuc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diagram. The Detector Service only watches the harness's own test directory, which is what keeps the design within the PS-001 constraint of no monitoring of other apps on stock Android. The simulator runs in its own Android process so that Process.killProcess targets only that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Gane-Sarson style DFD: rounded rectangles = processes, open-ended bars = data stores, shaded rectangles = external entities. The amber dashed flow is the containment signal from P5 back to the simulator workload in P1's process; it never targets other apps. The dashed line is drawn from P5 upwards for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calendar dates are given because the hackathon schedule is not stated in the attached PS-001 document; replace phases with dates once confirmed. All phases are currently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[5] is cited for emulator setup. Papers [7] and [8] are the attached papers. [6], [9]-[12] were cited from the literature and should be re-verified (title, venue, pages) against the original sources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vanced Internet Operations Research in Indi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65760"/>
            <a:ext cx="822960" cy="816559"/>
          </a:xfrm>
          <a:prstGeom prst="rect">
            <a:avLst/>
          </a:prstGeom>
        </p:spPr>
      </p:pic>
      <p:sp>
        <p:nvSpPr>
          <p:cNvPr id="3" name="Team ID"/>
          <p:cNvSpPr txBox="1"/>
          <p:nvPr/>
        </p:nvSpPr>
        <p:spPr>
          <a:xfrm>
            <a:off x="384048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endParaRPr lang="en-US" sz="3800" dirty="0"/>
          </a:p>
        </p:txBody>
      </p:sp>
      <p:sp>
        <p:nvSpPr>
          <p:cNvPr id="4" name="Subtitle"/>
          <p:cNvSpPr txBox="1"/>
          <p:nvPr/>
        </p:nvSpPr>
        <p:spPr>
          <a:xfrm>
            <a:off x="384048" y="2670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Android Ransomware-like Activity Early Warning in a Controlled Lab</a:t>
            </a:r>
            <a:endParaRPr lang="en-US" sz="1900" dirty="0"/>
          </a:p>
        </p:txBody>
      </p:sp>
      <p:sp>
        <p:nvSpPr>
          <p:cNvPr id="5" name="Author"/>
          <p:cNvSpPr txBox="1"/>
          <p:nvPr/>
        </p:nvSpPr>
        <p:spPr>
          <a:xfrm>
            <a:off x="384048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Deepika Grace T T</a:t>
            </a:r>
            <a:endParaRPr lang="en-US" sz="1400" dirty="0"/>
          </a:p>
        </p:txBody>
      </p:sp>
      <p:sp>
        <p:nvSpPr>
          <p:cNvPr id="6" name="Email"/>
          <p:cNvSpPr txBox="1"/>
          <p:nvPr/>
        </p:nvSpPr>
        <p:spPr>
          <a:xfrm>
            <a:off x="384048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deepika.grace@btech.christuniversity.in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84048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Hackathon 3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84048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October 13,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Abstract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 Description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Zero-day ransomware has no signature yet, but its file-system behaviour is unmistakable.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/ 11</a:t>
            </a:r>
            <a:endParaRPr lang="en-US" sz="750" dirty="0"/>
          </a:p>
        </p:txBody>
      </p:sp>
      <p:sp>
        <p:nvSpPr>
          <p:cNvPr id="7" name="Key issues"/>
          <p:cNvSpPr txBox="1"/>
          <p:nvPr/>
        </p:nvSpPr>
        <p:spPr>
          <a:xfrm>
            <a:off x="457200" y="13258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Signature-based antivirus cannot flag a binary that has not been cataloged; the first victims lose files before any signature exists.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Android app sandboxing stops security software from inspecting other apps' memory, so detection must rely on observable behaviour.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Ransomware leaves a rapid open → write → rename pattern across many files; every second of delay means more files lost.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Hard part: alert early without false alarms on legitimate bursts (media sync, bulk copy, editor autosave).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Response must stop only the controlled test workload, with no device-wide prevention claims.</a:t>
            </a:r>
            <a:endParaRPr lang="en-US" sz="1100" dirty="0"/>
          </a:p>
        </p:txBody>
      </p:sp>
      <p:sp>
        <p:nvSpPr>
          <p:cNvPr id="8" name="Scope card"/>
          <p:cNvSpPr/>
          <p:nvPr/>
        </p:nvSpPr>
        <p:spPr>
          <a:xfrm>
            <a:off x="5623560" y="1325880"/>
            <a:ext cx="3063240" cy="3291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PS-001 scope (what we build)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6916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emulator or rooted lab device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explicitly accessible test directory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benign workloads + 3 harmless simulations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Detection delay, files changed before alert, precision, recall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246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F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Explicitly not claimed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 malware or real encryption of user data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 other apps on stock Android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Device-wide ransomware prevention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Background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the file-system signal looks like, and what Android lets an app observe.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/ 11</a:t>
            </a:r>
            <a:endParaRPr lang="en-US" sz="750" dirty="0"/>
          </a:p>
        </p:txBody>
      </p:sp>
      <p:sp>
        <p:nvSpPr>
          <p:cNvPr id="7" name="Card 1"/>
          <p:cNvSpPr/>
          <p:nvPr/>
        </p:nvSpPr>
        <p:spPr>
          <a:xfrm>
            <a:off x="457200" y="1325880"/>
            <a:ext cx="2651760" cy="269748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274320" cy="274320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Ransomware I/O footprint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810512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Many files touched in a short burst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In-place overwrite, or write-copy then delete original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Rename to a new extension (e.g. .locked)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Write bursts often carry high-entropy (encrypted) content [6]</a:t>
            </a:r>
            <a:endParaRPr lang="en-US" sz="950" dirty="0"/>
          </a:p>
        </p:txBody>
      </p:sp>
      <p:sp>
        <p:nvSpPr>
          <p:cNvPr id="12" name="Card 2"/>
          <p:cNvSpPr/>
          <p:nvPr/>
        </p:nvSpPr>
        <p:spPr>
          <a:xfrm>
            <a:off x="3246120" y="1325880"/>
            <a:ext cx="2651760" cy="269748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417320"/>
            <a:ext cx="274320" cy="274320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5848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Android constraints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810512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 sandbox: no inspection of other apps' memory [1]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Scoped storage limits access to other apps' files [3]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 stock Android an app sees only its own or explicitly granted directories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Hence: app-owned test directory + emulator / rooted lab for documented telemetry</a:t>
            </a:r>
            <a:endParaRPr lang="en-US" sz="950" dirty="0"/>
          </a:p>
        </p:txBody>
      </p:sp>
      <p:sp>
        <p:nvSpPr>
          <p:cNvPr id="17" name="Card 3"/>
          <p:cNvSpPr/>
          <p:nvPr/>
        </p:nvSpPr>
        <p:spPr>
          <a:xfrm>
            <a:off x="6035040" y="1325880"/>
            <a:ext cx="2651760" cy="269748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1417320"/>
            <a:ext cx="274320" cy="274320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4768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Telemetry source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810512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FileObserver wraps Linux inotify [2][4]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Events: CREATE, MODIFY, CLOSE_WRITE, MOVED_FROM/TO, DELETE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Watches one directory (non-recursive): observe sub-folders individually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Event queue can overflow under bursts, so treat overflow as a gap and log it</a:t>
            </a:r>
            <a:endParaRPr lang="en-US" sz="950" dirty="0"/>
          </a:p>
        </p:txBody>
      </p:sp>
      <p:sp>
        <p:nvSpPr>
          <p:cNvPr id="22" name="Optimization target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Optimization target: minimize detection delay and files changed before the alert, while keeping false positives low on benign bursts.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Literature &amp; RFC Review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Literature &amp; RFC Review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Most relevant studies and platform specifications, and the gap this prototype targets.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/ 11</a:t>
            </a:r>
            <a:endParaRPr lang="en-US" sz="75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Work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Approach / reported results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Relevance and gap for PS-001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CryptoLock, Scaife et al. 2016 [6]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File-system indicators (entropy, similarity, type change, deletion) on a Windows host; reports small file loss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Closest idea; we adapt it to Android app-level events and report files-changed-before-alert explicitly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RansomTrack, Caliskan et al. 2026 [7]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Static + Frida dynamic features, Windows PE; XGBoost/soft voting ≈ 0.96 accuracy; ≈ 9.2 s per sample; SHAP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Offline ML on Windows; latency in seconds, not files lost. We borrow explainability, not the pipeline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Antivirus review, Gagniuc 2026 [8]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Layered detection; calibrate score thresholds on clean data; borderline scores trigger a second check; delay and mimicry evasion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Design principles: rules first, calibrated threshold, hysteresis; slow simulation tests delay evasion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RanSAP / RanSMAP, Hirano et al. [9][10]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Storage and memory access traces at hypervisor level; open datasets for ransomware detectors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Needs hypervisor access; not available to a stock Android app. Motivates our emulator/rooted telemetry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HelDroid, Andronio et al. 2015 [11]; Drabent et al. 2024 [12]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Android ransomware detection (lock-screen / encryption traits) and Locker case study with Frida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Shows the threat class; dynamic runtime file behaviour with early-alert metrics is less explored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Standards: no IETF RFC defines Android file monitoring; the governing specifications are the Android platform docs [1][2][3] and Linux inotify(7) [4].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Proposed Solution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Hybrid early-warning detector: fast rules plus anomaly scoring, explained per alert.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/ 11</a:t>
            </a:r>
            <a:endParaRPr lang="en-US" sz="750" dirty="0"/>
          </a:p>
        </p:txBody>
      </p:sp>
      <p:sp>
        <p:nvSpPr>
          <p:cNvPr id="7" name="Step 1"/>
          <p:cNvSpPr/>
          <p:nvPr/>
        </p:nvSpPr>
        <p:spPr>
          <a:xfrm>
            <a:off x="457200" y="1325880"/>
            <a:ext cx="1554480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325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  Observe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1554480" cy="12344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89280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FileObserver on the test directory only; every event time-stamped (ns)</a:t>
            </a:r>
            <a:endParaRPr lang="en-US" sz="880" dirty="0"/>
          </a:p>
        </p:txBody>
      </p:sp>
      <p:sp>
        <p:nvSpPr>
          <p:cNvPr id="11" name="Status chip"/>
          <p:cNvSpPr/>
          <p:nvPr/>
        </p:nvSpPr>
        <p:spPr>
          <a:xfrm>
            <a:off x="530352" y="285292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Designed</a:t>
            </a:r>
            <a:endParaRPr lang="en-US" sz="700" dirty="0"/>
          </a:p>
        </p:txBody>
      </p:sp>
      <p:sp>
        <p:nvSpPr>
          <p:cNvPr id="13" name="Step 2"/>
          <p:cNvSpPr/>
          <p:nvPr/>
        </p:nvSpPr>
        <p:spPr>
          <a:xfrm>
            <a:off x="2125980" y="1325880"/>
            <a:ext cx="1554480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9132" y="1325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 Window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25980" y="1847088"/>
            <a:ext cx="1554480" cy="12344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99132" y="189280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Rolling window (e.g. 2 s, 250 ms hop): writes/s, renames/s, unique files, extension changes, event gaps</a:t>
            </a:r>
            <a:endParaRPr lang="en-US" sz="880" dirty="0"/>
          </a:p>
        </p:txBody>
      </p:sp>
      <p:sp>
        <p:nvSpPr>
          <p:cNvPr id="17" name="Status chip"/>
          <p:cNvSpPr/>
          <p:nvPr/>
        </p:nvSpPr>
        <p:spPr>
          <a:xfrm>
            <a:off x="2199132" y="285292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99132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Designed</a:t>
            </a:r>
            <a:endParaRPr lang="en-US" sz="700" dirty="0"/>
          </a:p>
        </p:txBody>
      </p:sp>
      <p:sp>
        <p:nvSpPr>
          <p:cNvPr id="19" name="Step 3"/>
          <p:cNvSpPr/>
          <p:nvPr/>
        </p:nvSpPr>
        <p:spPr>
          <a:xfrm>
            <a:off x="3794760" y="1325880"/>
            <a:ext cx="1554480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67912" y="1325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 Detect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94760" y="1847088"/>
            <a:ext cx="1554480" cy="12344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67912" y="189280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Rule engine + robust z-score vs. benign baseline; optional Markov sequence model</a:t>
            </a:r>
            <a:endParaRPr lang="en-US" sz="880" dirty="0"/>
          </a:p>
        </p:txBody>
      </p:sp>
      <p:sp>
        <p:nvSpPr>
          <p:cNvPr id="23" name="Status chip"/>
          <p:cNvSpPr/>
          <p:nvPr/>
        </p:nvSpPr>
        <p:spPr>
          <a:xfrm>
            <a:off x="3867912" y="285292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67912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Designed</a:t>
            </a:r>
            <a:endParaRPr lang="en-US" sz="700" dirty="0"/>
          </a:p>
        </p:txBody>
      </p:sp>
      <p:sp>
        <p:nvSpPr>
          <p:cNvPr id="25" name="Step 4"/>
          <p:cNvSpPr/>
          <p:nvPr/>
        </p:nvSpPr>
        <p:spPr>
          <a:xfrm>
            <a:off x="5463540" y="1325880"/>
            <a:ext cx="1554480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6692" y="1325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 Score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63540" y="1847088"/>
            <a:ext cx="1554480" cy="12344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36692" y="189280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score 0–100 with per-feature contributions; hysteresis before alert</a:t>
            </a:r>
            <a:endParaRPr lang="en-US" sz="880" dirty="0"/>
          </a:p>
        </p:txBody>
      </p:sp>
      <p:sp>
        <p:nvSpPr>
          <p:cNvPr id="29" name="Status chip"/>
          <p:cNvSpPr/>
          <p:nvPr/>
        </p:nvSpPr>
        <p:spPr>
          <a:xfrm>
            <a:off x="5536692" y="285292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6692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Designed</a:t>
            </a:r>
            <a:endParaRPr lang="en-US" sz="700" dirty="0"/>
          </a:p>
        </p:txBody>
      </p:sp>
      <p:sp>
        <p:nvSpPr>
          <p:cNvPr id="31" name="Step 5"/>
          <p:cNvSpPr/>
          <p:nvPr/>
        </p:nvSpPr>
        <p:spPr>
          <a:xfrm>
            <a:off x="7132320" y="1325880"/>
            <a:ext cx="1554480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05472" y="1325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 Respond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1847088"/>
            <a:ext cx="1554480" cy="12344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05472" y="189280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Raise alert; stop only the simulation process started by the harness</a:t>
            </a:r>
            <a:endParaRPr lang="en-US" sz="880" dirty="0"/>
          </a:p>
        </p:txBody>
      </p:sp>
      <p:sp>
        <p:nvSpPr>
          <p:cNvPr id="35" name="Status chip"/>
          <p:cNvSpPr/>
          <p:nvPr/>
        </p:nvSpPr>
        <p:spPr>
          <a:xfrm>
            <a:off x="7205472" y="285292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05472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Designed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246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Evaluation (offline, in Python)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Detection delay and files changed before alert, per run</a:t>
            </a:r>
            <a:endParaRPr lang="en-US" sz="9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Precision, recall, false-positive rate over repeated runs</a:t>
            </a:r>
            <a:endParaRPr lang="en-US" sz="9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CPU and memory cost of the detector service</a:t>
            </a:r>
            <a:endParaRPr lang="en-US" sz="9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Ablation: rule-only vs. anomaly-only vs. hybrid</a:t>
            </a:r>
            <a:endParaRPr lang="en-US" sz="92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3246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F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Safety boundaries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Synthetic files only; reversible transform, throw-away key; dataset restored each run</a:t>
            </a:r>
            <a:endParaRPr lang="en-US" sz="9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 limited to one app-owned test directory</a:t>
            </a:r>
            <a:endParaRPr lang="en-US" sz="9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Containment kills only the harness-spawned simulator process</a:t>
            </a:r>
            <a:endParaRPr lang="en-US" sz="9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Status: design complete, build pending. No results claimed yet.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Solution Optimization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Optimization Proposed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Fixed-threshold baseline vs. the proposed hybrid detector (targets to be verified).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 / 11</a:t>
            </a:r>
            <a:endParaRPr lang="en-US" sz="750" dirty="0"/>
          </a:p>
        </p:txBody>
      </p:sp>
      <p:graphicFrame>
        <p:nvGraphicFramePr>
          <p:cNvPr id="7" name="Before-af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48840"/>
                <a:gridCol w="306324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Aspect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Before: single fixed rule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After: proposed hybrid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How it will be verified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Trigger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One event-count threshold in a fixed window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Multi-feature rules + adaptive anomaly score (median/MAD z-score vs. benign baseline)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5555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Ablation: rule-only / anomaly-only / hybrid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False positives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Benign bursts (bulk copy, autosave) cross the threshold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Threshold calibrated on benign runs; sustained windows needed; borderline scores wait one more window [8]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5555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FPR on B1, B2 runs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Alert latency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Waits for a full window to close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Overlapping windows (2 s / 250 ms hop) + immediate trigger on high-confidence rule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5555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Detection delay (ms), files changed before alert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Slow encryptors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Low-rate activity stays under the threshold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Cumulative-count and EWMA features; Markov sequence model as stretch goal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5555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Throttled simulation S3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Explainability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Binary alert, no reason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Risk score with per-feature contributions, logged with every alert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5555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Inspect alert log and dashboard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45F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improvement figures are claimed: every entry above is a hypothesis to be confirmed by measured runs.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Architecture Design (UML Diagram)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 Architecture &amp; Design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Harness, detector service and offline analysis on one documented lab device.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 / 11</a:t>
            </a:r>
            <a:endParaRPr lang="en-US" sz="750" dirty="0"/>
          </a:p>
        </p:txBody>
      </p:sp>
      <p:sp>
        <p:nvSpPr>
          <p:cNvPr id="7" name="Device container"/>
          <p:cNvSpPr/>
          <p:nvPr/>
        </p:nvSpPr>
        <p:spPr>
          <a:xfrm>
            <a:off x="365760" y="1280160"/>
            <a:ext cx="612648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" y="129844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«device»  Android emulator (AVD) or rooted lab device</a:t>
            </a:r>
            <a:endParaRPr lang="en-US" sz="850" dirty="0"/>
          </a:p>
        </p:txBody>
      </p:sp>
      <p:sp>
        <p:nvSpPr>
          <p:cNvPr id="9" name="Harness container"/>
          <p:cNvSpPr/>
          <p:nvPr/>
        </p:nvSpPr>
        <p:spPr>
          <a:xfrm>
            <a:off x="502920" y="1554480"/>
            <a:ext cx="1645920" cy="301752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572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«app»  Test Harness (Kotlin)</a:t>
            </a:r>
            <a:endParaRPr lang="en-US" sz="750" dirty="0"/>
          </a:p>
        </p:txBody>
      </p:sp>
      <p:sp>
        <p:nvSpPr>
          <p:cNvPr id="11" name="Box"/>
          <p:cNvSpPr/>
          <p:nvPr/>
        </p:nvSpPr>
        <p:spPr>
          <a:xfrm>
            <a:off x="594360" y="182880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" y="1828800"/>
            <a:ext cx="13898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Simulations S1–S3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(separate process :sim)</a:t>
            </a:r>
            <a:endParaRPr lang="en-US" sz="800" dirty="0"/>
          </a:p>
        </p:txBody>
      </p:sp>
      <p:sp>
        <p:nvSpPr>
          <p:cNvPr id="13" name="Box"/>
          <p:cNvSpPr/>
          <p:nvPr/>
        </p:nvSpPr>
        <p:spPr>
          <a:xfrm>
            <a:off x="594360" y="251460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" y="2514600"/>
            <a:ext cx="13898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Benign workloads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B1, B2</a:t>
            </a:r>
            <a:endParaRPr lang="en-US" sz="800" dirty="0"/>
          </a:p>
        </p:txBody>
      </p:sp>
      <p:sp>
        <p:nvSpPr>
          <p:cNvPr id="15" name="Box"/>
          <p:cNvSpPr/>
          <p:nvPr/>
        </p:nvSpPr>
        <p:spPr>
          <a:xfrm>
            <a:off x="594360" y="313639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" y="3136392"/>
            <a:ext cx="13898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Scenario Runner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(labels ground truth)</a:t>
            </a:r>
            <a:endParaRPr lang="en-US" sz="800" dirty="0"/>
          </a:p>
        </p:txBody>
      </p:sp>
      <p:sp>
        <p:nvSpPr>
          <p:cNvPr id="17" name="Box"/>
          <p:cNvSpPr/>
          <p:nvPr/>
        </p:nvSpPr>
        <p:spPr>
          <a:xfrm>
            <a:off x="594360" y="3840480"/>
            <a:ext cx="1463040" cy="548640"/>
          </a:xfrm>
          <a:prstGeom prst="rect">
            <a:avLst/>
          </a:prstGeom>
          <a:solidFill>
            <a:srgbClr val="E6E6F7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" y="3840480"/>
            <a:ext cx="1389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 directory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(app-owned, synthetic files)</a:t>
            </a:r>
            <a:endParaRPr lang="en-US" sz="800" dirty="0"/>
          </a:p>
        </p:txBody>
      </p:sp>
      <p:sp>
        <p:nvSpPr>
          <p:cNvPr id="19" name="Detector container"/>
          <p:cNvSpPr/>
          <p:nvPr/>
        </p:nvSpPr>
        <p:spPr>
          <a:xfrm>
            <a:off x="2331720" y="1554480"/>
            <a:ext cx="4023360" cy="301752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95728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«service»  Detector Service (Kotlin)</a:t>
            </a:r>
            <a:endParaRPr lang="en-US" sz="750" dirty="0"/>
          </a:p>
        </p:txBody>
      </p:sp>
      <p:sp>
        <p:nvSpPr>
          <p:cNvPr id="21" name="Box"/>
          <p:cNvSpPr/>
          <p:nvPr/>
        </p:nvSpPr>
        <p:spPr>
          <a:xfrm>
            <a:off x="2468880" y="187452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05456" y="1874520"/>
            <a:ext cx="13898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alert + stop sim PID</a:t>
            </a:r>
            <a:endParaRPr lang="en-US" sz="800" dirty="0"/>
          </a:p>
        </p:txBody>
      </p:sp>
      <p:sp>
        <p:nvSpPr>
          <p:cNvPr id="23" name="Box"/>
          <p:cNvSpPr/>
          <p:nvPr/>
        </p:nvSpPr>
        <p:spPr>
          <a:xfrm>
            <a:off x="4160520" y="1874520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97096" y="1874520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Scorer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0–100 + reasons</a:t>
            </a:r>
            <a:endParaRPr lang="en-US" sz="800" dirty="0"/>
          </a:p>
        </p:txBody>
      </p:sp>
      <p:sp>
        <p:nvSpPr>
          <p:cNvPr id="25" name="Box"/>
          <p:cNvSpPr/>
          <p:nvPr/>
        </p:nvSpPr>
        <p:spPr>
          <a:xfrm>
            <a:off x="2468880" y="2788920"/>
            <a:ext cx="1463040" cy="640080"/>
          </a:xfrm>
          <a:prstGeom prst="rect">
            <a:avLst/>
          </a:prstGeom>
          <a:solidFill>
            <a:srgbClr val="E6E6F7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05456" y="2788920"/>
            <a:ext cx="13898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thresholds + baseline</a:t>
            </a:r>
            <a:endParaRPr lang="en-US" sz="800" dirty="0"/>
          </a:p>
        </p:txBody>
      </p:sp>
      <p:sp>
        <p:nvSpPr>
          <p:cNvPr id="27" name="Box"/>
          <p:cNvSpPr/>
          <p:nvPr/>
        </p:nvSpPr>
        <p:spPr>
          <a:xfrm>
            <a:off x="4160520" y="2743200"/>
            <a:ext cx="1417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97096" y="2743200"/>
            <a:ext cx="13441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Detection Engine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Rules · z-score/EWMA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Markov (stretch)</a:t>
            </a:r>
            <a:endParaRPr lang="en-US" sz="800" dirty="0"/>
          </a:p>
        </p:txBody>
      </p:sp>
      <p:sp>
        <p:nvSpPr>
          <p:cNvPr id="29" name="Box"/>
          <p:cNvSpPr/>
          <p:nvPr/>
        </p:nvSpPr>
        <p:spPr>
          <a:xfrm>
            <a:off x="2468880" y="38404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05456" y="3840480"/>
            <a:ext cx="1389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FileObserver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</a:t>
            </a:r>
            <a:endParaRPr lang="en-US" sz="800" dirty="0"/>
          </a:p>
        </p:txBody>
      </p:sp>
      <p:sp>
        <p:nvSpPr>
          <p:cNvPr id="31" name="Box"/>
          <p:cNvSpPr/>
          <p:nvPr/>
        </p:nvSpPr>
        <p:spPr>
          <a:xfrm>
            <a:off x="4160520" y="384048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97096" y="3840480"/>
            <a:ext cx="13441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Window + Feature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Extractor</a:t>
            </a:r>
            <a:endParaRPr lang="en-US" sz="800" dirty="0"/>
          </a:p>
        </p:txBody>
      </p:sp>
      <p:sp>
        <p:nvSpPr>
          <p:cNvPr id="33" name="Logger"/>
          <p:cNvSpPr/>
          <p:nvPr/>
        </p:nvSpPr>
        <p:spPr>
          <a:xfrm>
            <a:off x="5760720" y="1874520"/>
            <a:ext cx="502920" cy="2514600"/>
          </a:xfrm>
          <a:prstGeom prst="rect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0" y="1874520"/>
            <a:ext cx="502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JSONL event + decision logger</a:t>
            </a:r>
            <a:endParaRPr lang="en-US" sz="800" dirty="0"/>
          </a:p>
        </p:txBody>
      </p:sp>
      <p:sp>
        <p:nvSpPr>
          <p:cNvPr id="35" name="Host container"/>
          <p:cNvSpPr/>
          <p:nvPr/>
        </p:nvSpPr>
        <p:spPr>
          <a:xfrm>
            <a:off x="6675120" y="1280160"/>
            <a:ext cx="210312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748272" y="12984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«host»  Analysis (Python)</a:t>
            </a:r>
            <a:endParaRPr lang="en-US" sz="850" dirty="0"/>
          </a:p>
        </p:txBody>
      </p:sp>
      <p:sp>
        <p:nvSpPr>
          <p:cNvPr id="37" name="Box"/>
          <p:cNvSpPr/>
          <p:nvPr/>
        </p:nvSpPr>
        <p:spPr>
          <a:xfrm>
            <a:off x="6858000" y="187452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94576" y="1874520"/>
            <a:ext cx="1664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adb pull logs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(JSONL / CSV)</a:t>
            </a:r>
            <a:endParaRPr lang="en-US" sz="850" dirty="0"/>
          </a:p>
        </p:txBody>
      </p:sp>
      <p:sp>
        <p:nvSpPr>
          <p:cNvPr id="39" name="Box"/>
          <p:cNvSpPr/>
          <p:nvPr/>
        </p:nvSpPr>
        <p:spPr>
          <a:xfrm>
            <a:off x="6858000" y="2743200"/>
            <a:ext cx="1737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94576" y="2743200"/>
            <a:ext cx="166420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NumPy / scikit-learn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metrics + ablation</a:t>
            </a:r>
            <a:endParaRPr lang="en-US" sz="850" dirty="0"/>
          </a:p>
        </p:txBody>
      </p:sp>
      <p:sp>
        <p:nvSpPr>
          <p:cNvPr id="41" name="Box"/>
          <p:cNvSpPr/>
          <p:nvPr/>
        </p:nvSpPr>
        <p:spPr>
          <a:xfrm>
            <a:off x="6858000" y="3703320"/>
            <a:ext cx="1737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94576" y="3703320"/>
            <a:ext cx="166420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Streamlit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delay · files lost · P/R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26680" y="2468880"/>
            <a:ext cx="0" cy="27432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26680" y="3429000"/>
            <a:ext cx="0" cy="27432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5" name="Arrow"/>
          <p:cNvSpPr/>
          <p:nvPr/>
        </p:nvSpPr>
        <p:spPr>
          <a:xfrm>
            <a:off x="6263640" y="2167128"/>
            <a:ext cx="59436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6" name="Arrow"/>
          <p:cNvSpPr/>
          <p:nvPr/>
        </p:nvSpPr>
        <p:spPr>
          <a:xfrm>
            <a:off x="2057400" y="4114800"/>
            <a:ext cx="41148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7" name="Arrow"/>
          <p:cNvSpPr/>
          <p:nvPr/>
        </p:nvSpPr>
        <p:spPr>
          <a:xfrm>
            <a:off x="3931920" y="4114800"/>
            <a:ext cx="228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4869180" y="3474720"/>
            <a:ext cx="0" cy="36576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4869180" y="2468880"/>
            <a:ext cx="0" cy="27432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50" name="Arrow"/>
          <p:cNvSpPr/>
          <p:nvPr/>
        </p:nvSpPr>
        <p:spPr>
          <a:xfrm flipH="1">
            <a:off x="3931920" y="2167128"/>
            <a:ext cx="228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51" name="Arrow"/>
          <p:cNvSpPr/>
          <p:nvPr/>
        </p:nvSpPr>
        <p:spPr>
          <a:xfrm>
            <a:off x="3931920" y="3108960"/>
            <a:ext cx="228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52" name="Arrow"/>
          <p:cNvSpPr/>
          <p:nvPr/>
        </p:nvSpPr>
        <p:spPr>
          <a:xfrm flipH="1">
            <a:off x="2057400" y="2011680"/>
            <a:ext cx="411480" cy="0"/>
          </a:xfrm>
          <a:prstGeom prst="line">
            <a:avLst/>
          </a:prstGeom>
          <a:noFill/>
          <a:ln w="15875">
            <a:solidFill>
              <a:srgbClr val="B45F06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2011680" y="1801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45F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stop(PID)</a:t>
            </a:r>
            <a:endParaRPr lang="en-US" sz="650" dirty="0"/>
          </a:p>
        </p:txBody>
      </p:sp>
      <p:sp>
        <p:nvSpPr>
          <p:cNvPr id="54" name="Text 52"/>
          <p:cNvSpPr txBox="1"/>
          <p:nvPr/>
        </p:nvSpPr>
        <p:spPr>
          <a:xfrm>
            <a:off x="2011680" y="370332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inotify events</a:t>
            </a:r>
            <a:endParaRPr lang="en-US" sz="6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" y="4681728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Amber arrow: containment reaches only the simulator process. Markov model is a stretch goal. Status: architecture designed; components not yet built.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Data Flow Diagram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Flow Diagram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a file event becomes a feature, a risk score, a response and a logged measurement.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/ 11</a:t>
            </a:r>
            <a:endParaRPr lang="en-US" sz="750" dirty="0"/>
          </a:p>
        </p:txBody>
      </p:sp>
      <p:sp>
        <p:nvSpPr>
          <p:cNvPr id="7" name="External entity"/>
          <p:cNvSpPr/>
          <p:nvPr/>
        </p:nvSpPr>
        <p:spPr>
          <a:xfrm>
            <a:off x="457200" y="1508760"/>
            <a:ext cx="1371600" cy="731520"/>
          </a:xfrm>
          <a:prstGeom prst="rect">
            <a:avLst/>
          </a:prstGeom>
          <a:solidFill>
            <a:srgbClr val="E6E6F7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150876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Scenario Runner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(test harness)</a:t>
            </a:r>
            <a:endParaRPr lang="en-US" sz="850" dirty="0"/>
          </a:p>
        </p:txBody>
      </p:sp>
      <p:sp>
        <p:nvSpPr>
          <p:cNvPr id="9" name="Process"/>
          <p:cNvSpPr/>
          <p:nvPr/>
        </p:nvSpPr>
        <p:spPr>
          <a:xfrm>
            <a:off x="2103120" y="150876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3F3FB"/>
          </a:solidFill>
          <a:ln w="15875">
            <a:solidFill>
              <a:srgbClr val="0000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9696" y="150876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Run workload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benign B1/B2 or simulation S1–S3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160020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600200"/>
            <a:ext cx="1371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148840"/>
            <a:ext cx="1371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</a:ln>
        </p:spPr>
      </p:sp>
      <p:sp>
        <p:nvSpPr>
          <p:cNvPr id="14" name="Data store"/>
          <p:cNvSpPr txBox="1"/>
          <p:nvPr/>
        </p:nvSpPr>
        <p:spPr>
          <a:xfrm>
            <a:off x="374904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D1  Test directory</a:t>
            </a:r>
            <a:endParaRPr lang="en-US" sz="850" dirty="0"/>
          </a:p>
        </p:txBody>
      </p:sp>
      <p:sp>
        <p:nvSpPr>
          <p:cNvPr id="15" name="Process"/>
          <p:cNvSpPr/>
          <p:nvPr/>
        </p:nvSpPr>
        <p:spPr>
          <a:xfrm>
            <a:off x="5394960" y="150876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3F3FB"/>
          </a:solidFill>
          <a:ln w="15875">
            <a:solidFill>
              <a:srgbClr val="0000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31536" y="150876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Capture events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FileObserver / inotify</a:t>
            </a:r>
            <a:endParaRPr lang="en-US" sz="850" dirty="0"/>
          </a:p>
        </p:txBody>
      </p:sp>
      <p:sp>
        <p:nvSpPr>
          <p:cNvPr id="17" name="Process"/>
          <p:cNvSpPr/>
          <p:nvPr/>
        </p:nvSpPr>
        <p:spPr>
          <a:xfrm>
            <a:off x="7040880" y="150876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3F3FB"/>
          </a:solidFill>
          <a:ln w="15875">
            <a:solidFill>
              <a:srgbClr val="0000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77456" y="150876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Build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rolling window</a:t>
            </a:r>
            <a:endParaRPr lang="en-US" sz="850" dirty="0"/>
          </a:p>
        </p:txBody>
      </p:sp>
      <p:sp>
        <p:nvSpPr>
          <p:cNvPr id="19" name="Arrow"/>
          <p:cNvSpPr/>
          <p:nvPr/>
        </p:nvSpPr>
        <p:spPr>
          <a:xfrm>
            <a:off x="1828800" y="187452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20" name="Arrow"/>
          <p:cNvSpPr/>
          <p:nvPr/>
        </p:nvSpPr>
        <p:spPr>
          <a:xfrm>
            <a:off x="3474720" y="187452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21" name="Arrow"/>
          <p:cNvSpPr/>
          <p:nvPr/>
        </p:nvSpPr>
        <p:spPr>
          <a:xfrm>
            <a:off x="5120640" y="187452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6766560" y="187452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74720" y="167335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 ops</a:t>
            </a:r>
            <a:endParaRPr lang="en-US" sz="6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03911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FS events</a:t>
            </a:r>
            <a:endParaRPr lang="en-US" sz="600" dirty="0"/>
          </a:p>
        </p:txBody>
      </p:sp>
      <p:sp>
        <p:nvSpPr>
          <p:cNvPr id="25" name="Arrow"/>
          <p:cNvSpPr/>
          <p:nvPr/>
        </p:nvSpPr>
        <p:spPr>
          <a:xfrm>
            <a:off x="7726680" y="2240280"/>
            <a:ext cx="0" cy="68580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772400" y="22585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 vectors</a:t>
            </a:r>
            <a:endParaRPr lang="en-US" sz="650" dirty="0"/>
          </a:p>
        </p:txBody>
      </p:sp>
      <p:sp>
        <p:nvSpPr>
          <p:cNvPr id="27" name="Process"/>
          <p:cNvSpPr/>
          <p:nvPr/>
        </p:nvSpPr>
        <p:spPr>
          <a:xfrm>
            <a:off x="7040880" y="29260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3F3FB"/>
          </a:solidFill>
          <a:ln w="15875">
            <a:solidFill>
              <a:srgbClr val="0000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77456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Detect and score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rules + anomaly (+ Markov)</a:t>
            </a:r>
            <a:endParaRPr lang="en-US" sz="850" dirty="0"/>
          </a:p>
        </p:txBody>
      </p:sp>
      <p:sp>
        <p:nvSpPr>
          <p:cNvPr id="29" name="Process"/>
          <p:cNvSpPr/>
          <p:nvPr/>
        </p:nvSpPr>
        <p:spPr>
          <a:xfrm>
            <a:off x="5394960" y="29260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3F3FB"/>
          </a:solidFill>
          <a:ln w="15875">
            <a:solidFill>
              <a:srgbClr val="0000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31536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P5 Respond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alert; stop simulator PID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49040" y="301752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3017520"/>
            <a:ext cx="1371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9040" y="3566160"/>
            <a:ext cx="1371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</a:ln>
        </p:spPr>
      </p:sp>
      <p:sp>
        <p:nvSpPr>
          <p:cNvPr id="34" name="Data store"/>
          <p:cNvSpPr txBox="1"/>
          <p:nvPr/>
        </p:nvSpPr>
        <p:spPr>
          <a:xfrm>
            <a:off x="374904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D3  Event + decision logs</a:t>
            </a:r>
            <a:endParaRPr lang="en-US" sz="850" dirty="0"/>
          </a:p>
        </p:txBody>
      </p:sp>
      <p:sp>
        <p:nvSpPr>
          <p:cNvPr id="35" name="Process"/>
          <p:cNvSpPr/>
          <p:nvPr/>
        </p:nvSpPr>
        <p:spPr>
          <a:xfrm>
            <a:off x="2103120" y="29260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3F3FB"/>
          </a:solidFill>
          <a:ln w="15875">
            <a:solidFill>
              <a:srgbClr val="0000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139696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P6 Evaluate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delay, files lost, P/R, FPR</a:t>
            </a:r>
            <a:endParaRPr lang="en-US" sz="850" dirty="0"/>
          </a:p>
        </p:txBody>
      </p:sp>
      <p:sp>
        <p:nvSpPr>
          <p:cNvPr id="37" name="External entity"/>
          <p:cNvSpPr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solidFill>
            <a:srgbClr val="E6E6F7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Mentor / Streamlit dashboard</a:t>
            </a:r>
            <a:endParaRPr lang="en-US" sz="850" dirty="0"/>
          </a:p>
        </p:txBody>
      </p:sp>
      <p:sp>
        <p:nvSpPr>
          <p:cNvPr id="39" name="Arrow"/>
          <p:cNvSpPr/>
          <p:nvPr/>
        </p:nvSpPr>
        <p:spPr>
          <a:xfrm flipH="1">
            <a:off x="6766560" y="329184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0" name="Arrow"/>
          <p:cNvSpPr/>
          <p:nvPr/>
        </p:nvSpPr>
        <p:spPr>
          <a:xfrm flipH="1">
            <a:off x="5120640" y="329184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1" name="Arrow"/>
          <p:cNvSpPr/>
          <p:nvPr/>
        </p:nvSpPr>
        <p:spPr>
          <a:xfrm flipH="1">
            <a:off x="3474720" y="329184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2" name="Arrow"/>
          <p:cNvSpPr/>
          <p:nvPr/>
        </p:nvSpPr>
        <p:spPr>
          <a:xfrm flipH="1">
            <a:off x="1828800" y="3291840"/>
            <a:ext cx="27432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5029200" y="338328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alerts</a:t>
            </a:r>
            <a:endParaRPr lang="en-US" sz="600" dirty="0"/>
          </a:p>
        </p:txBody>
      </p:sp>
      <p:sp>
        <p:nvSpPr>
          <p:cNvPr id="44" name="Arrow"/>
          <p:cNvSpPr/>
          <p:nvPr/>
        </p:nvSpPr>
        <p:spPr>
          <a:xfrm flipH="1" flipV="1">
            <a:off x="2926080" y="2240280"/>
            <a:ext cx="2468880" cy="731520"/>
          </a:xfrm>
          <a:prstGeom prst="line">
            <a:avLst/>
          </a:prstGeom>
          <a:noFill/>
          <a:ln w="15875">
            <a:solidFill>
              <a:srgbClr val="B45F06"/>
            </a:solidFill>
            <a:prstDash val="dash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246120" y="24871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45F0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stop signal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040880" y="406908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4069080"/>
            <a:ext cx="1371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4617720"/>
            <a:ext cx="1371600" cy="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</a:ln>
        </p:spPr>
      </p:sp>
      <p:sp>
        <p:nvSpPr>
          <p:cNvPr id="49" name="Data store"/>
          <p:cNvSpPr txBox="1"/>
          <p:nvPr/>
        </p:nvSpPr>
        <p:spPr>
          <a:xfrm>
            <a:off x="704088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D2  Baseline + thresholds</a:t>
            </a:r>
            <a:endParaRPr lang="en-US" sz="850" dirty="0"/>
          </a:p>
        </p:txBody>
      </p:sp>
      <p:sp>
        <p:nvSpPr>
          <p:cNvPr id="50" name="Arrow"/>
          <p:cNvSpPr/>
          <p:nvPr/>
        </p:nvSpPr>
        <p:spPr>
          <a:xfrm flipV="1">
            <a:off x="7726680" y="3657600"/>
            <a:ext cx="0" cy="411480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</p:sp>
      <p:sp>
        <p:nvSpPr>
          <p:cNvPr id="51" name="Figure caption"/>
          <p:cNvSpPr txBox="1"/>
          <p:nvPr/>
        </p:nvSpPr>
        <p:spPr>
          <a:xfrm>
            <a:off x="457200" y="4160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Figure: 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Flow Diagram (DFD). Dashed amber line: stop signal reaching only the simulator process (P1). Planned design; not yet implemented.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Deployment Timeline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Deployment Timeline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Six iterative phases, each ending in a logged, reproducible run in the repo.</a:t>
            </a:r>
            <a:endParaRPr lang="en-US" sz="125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6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 / 11</a:t>
            </a:r>
            <a:endParaRPr lang="en-US" sz="750" dirty="0"/>
          </a:p>
        </p:txBody>
      </p:sp>
      <p:sp>
        <p:nvSpPr>
          <p:cNvPr id="7" name="Phase 1"/>
          <p:cNvSpPr/>
          <p:nvPr/>
        </p:nvSpPr>
        <p:spPr>
          <a:xfrm>
            <a:off x="457200" y="1371600"/>
            <a:ext cx="1298448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3716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1298448" cy="2148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947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Lab + telemetry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22402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AVD set-up, FileObserver logger, private repo shared with aiori-hackathon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34015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Exit: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Raw event log from a test run</a:t>
            </a:r>
            <a:endParaRPr lang="en-US" sz="800" dirty="0"/>
          </a:p>
        </p:txBody>
      </p:sp>
      <p:sp>
        <p:nvSpPr>
          <p:cNvPr id="13" name="Status chip"/>
          <p:cNvSpPr/>
          <p:nvPr/>
        </p:nvSpPr>
        <p:spPr>
          <a:xfrm>
            <a:off x="530352" y="381304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3813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</a:t>
            </a:r>
            <a:endParaRPr lang="en-US" sz="700" dirty="0"/>
          </a:p>
        </p:txBody>
      </p:sp>
      <p:sp>
        <p:nvSpPr>
          <p:cNvPr id="15" name="Phase 2"/>
          <p:cNvSpPr/>
          <p:nvPr/>
        </p:nvSpPr>
        <p:spPr>
          <a:xfrm>
            <a:off x="1843430" y="1371600"/>
            <a:ext cx="1298448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16582" y="13716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43430" y="1901952"/>
            <a:ext cx="1298448" cy="2148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16582" y="1947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Workloads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916582" y="22402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Benign B1, B2 and harmless simulations S1–S3 with ground-truth labels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1916582" y="34015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Exit: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Labelled event logs</a:t>
            </a:r>
            <a:endParaRPr lang="en-US" sz="800" dirty="0"/>
          </a:p>
        </p:txBody>
      </p:sp>
      <p:sp>
        <p:nvSpPr>
          <p:cNvPr id="21" name="Status chip"/>
          <p:cNvSpPr/>
          <p:nvPr/>
        </p:nvSpPr>
        <p:spPr>
          <a:xfrm>
            <a:off x="1916582" y="381304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16582" y="3813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</a:t>
            </a:r>
            <a:endParaRPr lang="en-US" sz="700" dirty="0"/>
          </a:p>
        </p:txBody>
      </p:sp>
      <p:sp>
        <p:nvSpPr>
          <p:cNvPr id="23" name="Phase 3"/>
          <p:cNvSpPr/>
          <p:nvPr/>
        </p:nvSpPr>
        <p:spPr>
          <a:xfrm>
            <a:off x="3229661" y="1371600"/>
            <a:ext cx="1298448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02813" y="13716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9661" y="1901952"/>
            <a:ext cx="1298448" cy="2148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02813" y="1947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Rule detector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302813" y="22402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Rolling-window features, rule engine, Responder that stops the simulator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3302813" y="34015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Exit: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Alert + stop on S1–S3</a:t>
            </a:r>
            <a:endParaRPr lang="en-US" sz="800" dirty="0"/>
          </a:p>
        </p:txBody>
      </p:sp>
      <p:sp>
        <p:nvSpPr>
          <p:cNvPr id="29" name="Status chip"/>
          <p:cNvSpPr/>
          <p:nvPr/>
        </p:nvSpPr>
        <p:spPr>
          <a:xfrm>
            <a:off x="3302813" y="381304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02813" y="3813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</a:t>
            </a:r>
            <a:endParaRPr lang="en-US" sz="700" dirty="0"/>
          </a:p>
        </p:txBody>
      </p:sp>
      <p:sp>
        <p:nvSpPr>
          <p:cNvPr id="31" name="Phase 4"/>
          <p:cNvSpPr/>
          <p:nvPr/>
        </p:nvSpPr>
        <p:spPr>
          <a:xfrm>
            <a:off x="4615891" y="1371600"/>
            <a:ext cx="1298448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89043" y="13716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5891" y="1901952"/>
            <a:ext cx="1298448" cy="2148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89043" y="1947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Anomaly layer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689043" y="22402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Benign baseline, robust z-score/EWMA, risk score with reasons, threshold calibration</a:t>
            </a:r>
            <a:endParaRPr lang="en-US" sz="830" dirty="0"/>
          </a:p>
        </p:txBody>
      </p:sp>
      <p:sp>
        <p:nvSpPr>
          <p:cNvPr id="36" name="Text 34"/>
          <p:cNvSpPr txBox="1"/>
          <p:nvPr/>
        </p:nvSpPr>
        <p:spPr>
          <a:xfrm>
            <a:off x="4689043" y="34015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Exit: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Calibrated threshold</a:t>
            </a:r>
            <a:endParaRPr lang="en-US" sz="800" dirty="0"/>
          </a:p>
        </p:txBody>
      </p:sp>
      <p:sp>
        <p:nvSpPr>
          <p:cNvPr id="37" name="Status chip"/>
          <p:cNvSpPr/>
          <p:nvPr/>
        </p:nvSpPr>
        <p:spPr>
          <a:xfrm>
            <a:off x="4689043" y="381304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89043" y="3813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</a:t>
            </a:r>
            <a:endParaRPr lang="en-US" sz="700" dirty="0"/>
          </a:p>
        </p:txBody>
      </p:sp>
      <p:sp>
        <p:nvSpPr>
          <p:cNvPr id="39" name="Phase 5"/>
          <p:cNvSpPr/>
          <p:nvPr/>
        </p:nvSpPr>
        <p:spPr>
          <a:xfrm>
            <a:off x="6002122" y="1371600"/>
            <a:ext cx="1298448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75274" y="13716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02122" y="1901952"/>
            <a:ext cx="1298448" cy="2148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75274" y="1947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075274" y="22402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Repeated runs; delay, files changed, P/R, FPR, CPU/memory; Streamlit dashboard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6075274" y="34015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Exit: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Results table + plots</a:t>
            </a:r>
            <a:endParaRPr lang="en-US" sz="800" dirty="0"/>
          </a:p>
        </p:txBody>
      </p:sp>
      <p:sp>
        <p:nvSpPr>
          <p:cNvPr id="45" name="Status chip"/>
          <p:cNvSpPr/>
          <p:nvPr/>
        </p:nvSpPr>
        <p:spPr>
          <a:xfrm>
            <a:off x="6075274" y="381304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75274" y="3813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</a:t>
            </a:r>
            <a:endParaRPr lang="en-US" sz="700" dirty="0"/>
          </a:p>
        </p:txBody>
      </p:sp>
      <p:sp>
        <p:nvSpPr>
          <p:cNvPr id="47" name="Phase 6"/>
          <p:cNvSpPr/>
          <p:nvPr/>
        </p:nvSpPr>
        <p:spPr>
          <a:xfrm>
            <a:off x="7388352" y="1371600"/>
            <a:ext cx="1298448" cy="457200"/>
          </a:xfrm>
          <a:prstGeom prst="homePlat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61504" y="13716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88352" y="1901952"/>
            <a:ext cx="1298448" cy="2148840"/>
          </a:xfrm>
          <a:prstGeom prst="rect">
            <a:avLst/>
          </a:prstGeom>
          <a:solidFill>
            <a:srgbClr val="F3F3FB"/>
          </a:solidFill>
          <a:ln w="9525">
            <a:solidFill>
              <a:srgbClr val="B8B8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61504" y="1947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 + docs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461504" y="22402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Mentor demo with pseudocode, PDF in repo, setup notes; Markov stretch if time allows</a:t>
            </a:r>
            <a:endParaRPr lang="en-US" sz="830" dirty="0"/>
          </a:p>
        </p:txBody>
      </p:sp>
      <p:sp>
        <p:nvSpPr>
          <p:cNvPr id="52" name="Text 50"/>
          <p:cNvSpPr txBox="1"/>
          <p:nvPr/>
        </p:nvSpPr>
        <p:spPr>
          <a:xfrm>
            <a:off x="7461504" y="34015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Exit: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Submission package</a:t>
            </a:r>
            <a:endParaRPr lang="en-US" sz="800" dirty="0"/>
          </a:p>
        </p:txBody>
      </p:sp>
      <p:sp>
        <p:nvSpPr>
          <p:cNvPr id="53" name="Status chip"/>
          <p:cNvSpPr/>
          <p:nvPr/>
        </p:nvSpPr>
        <p:spPr>
          <a:xfrm>
            <a:off x="7461504" y="381304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61504" y="3813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Methodology: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iterative build-measure-refine; every metric comes from logged runs; calendar dates will be fixed to the AIORI-3 schedule. Deliverables tracked: private repo (ownership transfer to aiori-hackathon), PDF per template, prototype demo with pseudocode.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2286000" y="73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</a:t>
            </a:r>
            <a:pPr algn="ctr"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Bibliography</a:t>
            </a:r>
            <a:endParaRPr lang="en-US" sz="75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Bibliography</a:t>
            </a:r>
            <a:endParaRPr lang="en-US" sz="24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D. Grace T T • </a:t>
            </a:r>
            <a:pPr indent="0" marL="0">
              <a:buNone/>
            </a:pPr>
            <a:r>
              <a:rPr lang="en-US" sz="7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A3-PS001-TC034</a:t>
            </a:r>
            <a:pPr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• October 13, 2026</a:t>
            </a:r>
            <a:endParaRPr lang="en-US" sz="750" dirty="0"/>
          </a:p>
        </p:txBody>
      </p:sp>
      <p:sp>
        <p:nvSpPr>
          <p:cNvPr id="5" name="Page number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/ 11</a:t>
            </a:r>
            <a:endParaRPr lang="en-US" sz="750" dirty="0"/>
          </a:p>
        </p:txBody>
      </p:sp>
      <p:sp>
        <p:nvSpPr>
          <p:cNvPr id="6" name="References"/>
          <p:cNvSpPr txBox="1"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[1]  Android Developers. Security best practices (PS-001 reference). developer.android.com/privacy-and-security/security-best-practices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[2]  Android Developers. FileObserver, API reference. developer.android.com/reference/android/os/FileObserver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[3]  Android Developers. Data and file storage overview (scoped storage). developer.android.com/training/data-storage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[4]  Linux man-pages. inotify(7), monitoring filesystem events. man7.org/linux/man-pages/man7/inotify.7.html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[5]  Android Developers. Android Studio and Android Emulator documentation. developer.android.com/studio/run/emulator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[6]  N. Scaife, H. Carter, P. Traynor, K. Butler. CryptoLock (and Drop It): Stopping Ransomware Attacks on User Data. IEEE ICDCS, 2016.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[7]  B. Caliskan, I. Gulatas, H. H. Kilinc, A. H. Zaim. RansomTrack: A Hybrid Behavioral Analysis Framework for Ransomware Detection. arXiv:2604.08739, 2026.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[8]  P. A. Gagniuc. Antivirus Systems: Detection Methods and Architectures. Algorithms 19(5), 345, 2026. doi:10.3390/a19050345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[9]  M. Hirano, R. Hodota, R. Kobayashi. RanSAP: An open dataset of ransomware storage access patterns. Forensic Sci. Int.: Digital Investigation 40, 301314, 2022.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[10]  M. Hirano, R. Kobayashi. RanSMAP: Open dataset of ransomware storage and memory access patterns. Computers &amp; Security 150, 104202, 2025.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[11]  N. Andronio, S. Zanero, F. Maggi. HelDroid: Dissecting and Detecting Mobile Ransomware. RAID, 2015.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[12]  K. Drabent, R. Janowski, J. M. Batalla. How to circumvent and beat the ransomware in Android: a case study of Locker.cb!tr. Electronics 13, 2212, 2024.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 for Your Attention!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3">
  <a:themeElements>
    <a:clrScheme name="AIORI3">
      <a:dk1>
        <a:srgbClr val="000000"/>
      </a:dk1>
      <a:lt1>
        <a:srgbClr val="FFFFFF"/>
      </a:lt1>
      <a:dk2>
        <a:srgbClr val="1A1A1A"/>
      </a:dk2>
      <a:lt2>
        <a:srgbClr val="F3F3FB"/>
      </a:lt2>
      <a:accent1>
        <a:srgbClr val="0000DC"/>
      </a:accent1>
      <a:accent2>
        <a:srgbClr val="555555"/>
      </a:accent2>
      <a:accent3>
        <a:srgbClr val="B45F06"/>
      </a:accent3>
      <a:accent4>
        <a:srgbClr val="2E7D32"/>
      </a:accent4>
      <a:accent5>
        <a:srgbClr val="8888CC"/>
      </a:accent5>
      <a:accent6>
        <a:srgbClr val="D8D8D8"/>
      </a:accent6>
      <a:hlink>
        <a:srgbClr val="0000DC"/>
      </a:hlink>
      <a:folHlink>
        <a:srgbClr val="555555"/>
      </a:folHlink>
    </a:clrScheme>
    <a:fontScheme name="AIORI3">
      <a:majorFont>
        <a:latin typeface="P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A3-PS001-TC034 – Android Ransomware-like Activity Early Warning in a Controlled Lab</dc:title>
  <dc:subject>PptxGenJS Presentation</dc:subject>
  <dc:creator>Deepika Grace T T</dc:creator>
  <cp:lastModifiedBy>Deepika Grace T T</cp:lastModifiedBy>
  <cp:revision>1</cp:revision>
  <dcterms:created xsi:type="dcterms:W3CDTF">2026-10-13T06:17:36Z</dcterms:created>
  <dcterms:modified xsi:type="dcterms:W3CDTF">2026-10-13T06:17:36Z</dcterms:modified>
</cp:coreProperties>
</file>